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0"/>
  </p:notesMasterIdLst>
  <p:sldIdLst>
    <p:sldId id="256" r:id="rId2"/>
    <p:sldId id="271" r:id="rId3"/>
    <p:sldId id="272" r:id="rId4"/>
    <p:sldId id="258" r:id="rId5"/>
    <p:sldId id="287" r:id="rId6"/>
    <p:sldId id="276" r:id="rId7"/>
    <p:sldId id="281" r:id="rId8"/>
    <p:sldId id="279" r:id="rId9"/>
    <p:sldId id="261" r:id="rId10"/>
    <p:sldId id="262" r:id="rId11"/>
    <p:sldId id="283" r:id="rId12"/>
    <p:sldId id="257" r:id="rId13"/>
    <p:sldId id="263" r:id="rId14"/>
    <p:sldId id="285" r:id="rId15"/>
    <p:sldId id="286" r:id="rId16"/>
    <p:sldId id="264" r:id="rId17"/>
    <p:sldId id="284" r:id="rId18"/>
    <p:sldId id="27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666"/>
    <p:restoredTop sz="88889"/>
  </p:normalViewPr>
  <p:slideViewPr>
    <p:cSldViewPr snapToGrid="0">
      <p:cViewPr>
        <p:scale>
          <a:sx n="128" d="100"/>
          <a:sy n="128" d="100"/>
        </p:scale>
        <p:origin x="392" y="-128"/>
      </p:cViewPr>
      <p:guideLst/>
    </p:cSldViewPr>
  </p:slideViewPr>
  <p:notesTextViewPr>
    <p:cViewPr>
      <p:scale>
        <a:sx n="90" d="100"/>
        <a:sy n="9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29A89D8-9D69-A94D-AE49-198B8688D33A}" type="doc">
      <dgm:prSet loTypeId="urn:microsoft.com/office/officeart/2005/8/layout/chevron2" loCatId="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GB"/>
        </a:p>
      </dgm:t>
    </dgm:pt>
    <dgm:pt modelId="{53CEBC69-4F47-6B4C-94D0-860259410F56}">
      <dgm:prSet phldrT="[Text]"/>
      <dgm:spPr/>
      <dgm:t>
        <a:bodyPr/>
        <a:lstStyle/>
        <a:p>
          <a:r>
            <a:rPr lang="en-GB" dirty="0">
              <a:latin typeface="Times New Roman" panose="02020603050405020304" pitchFamily="18" charset="0"/>
              <a:cs typeface="Times New Roman" panose="02020603050405020304" pitchFamily="18" charset="0"/>
            </a:rPr>
            <a:t>1980s </a:t>
          </a:r>
        </a:p>
      </dgm:t>
    </dgm:pt>
    <dgm:pt modelId="{8B46D5E1-99E3-634E-9008-EC93F8DBBDFF}" type="parTrans" cxnId="{7B338063-5ACF-994E-B820-0B079302282D}">
      <dgm:prSet/>
      <dgm:spPr/>
      <dgm:t>
        <a:bodyPr/>
        <a:lstStyle/>
        <a:p>
          <a:endParaRPr lang="en-GB"/>
        </a:p>
      </dgm:t>
    </dgm:pt>
    <dgm:pt modelId="{DA71DBE1-F3E9-F34E-B33C-728EDA543EC2}" type="sibTrans" cxnId="{7B338063-5ACF-994E-B820-0B079302282D}">
      <dgm:prSet/>
      <dgm:spPr/>
      <dgm:t>
        <a:bodyPr/>
        <a:lstStyle/>
        <a:p>
          <a:endParaRPr lang="en-GB"/>
        </a:p>
      </dgm:t>
    </dgm:pt>
    <dgm:pt modelId="{D6EF2B6F-DEA8-104A-89DE-B1C1655269C2}">
      <dgm:prSet phldrT="[Text]"/>
      <dgm:spPr/>
      <dgm:t>
        <a:bodyPr/>
        <a:lstStyle/>
        <a:p>
          <a:r>
            <a:rPr lang="en-GB" dirty="0">
              <a:latin typeface="Times New Roman" panose="02020603050405020304" pitchFamily="18" charset="0"/>
              <a:cs typeface="Times New Roman" panose="02020603050405020304" pitchFamily="18" charset="0"/>
            </a:rPr>
            <a:t>ARCH model introduced </a:t>
          </a:r>
        </a:p>
      </dgm:t>
    </dgm:pt>
    <dgm:pt modelId="{8472AB59-AA08-5D47-BD3A-74162202446B}" type="parTrans" cxnId="{9F136F78-9F47-F84D-BB0B-07BE99A262C1}">
      <dgm:prSet/>
      <dgm:spPr/>
      <dgm:t>
        <a:bodyPr/>
        <a:lstStyle/>
        <a:p>
          <a:endParaRPr lang="en-GB"/>
        </a:p>
      </dgm:t>
    </dgm:pt>
    <dgm:pt modelId="{1E18BAFE-4863-4848-B1DA-AE616CABFE13}" type="sibTrans" cxnId="{9F136F78-9F47-F84D-BB0B-07BE99A262C1}">
      <dgm:prSet/>
      <dgm:spPr/>
      <dgm:t>
        <a:bodyPr/>
        <a:lstStyle/>
        <a:p>
          <a:endParaRPr lang="en-GB"/>
        </a:p>
      </dgm:t>
    </dgm:pt>
    <dgm:pt modelId="{6DA12542-2CF8-564E-9B63-7604E304B646}">
      <dgm:prSet phldrT="[Text]"/>
      <dgm:spPr/>
      <dgm:t>
        <a:bodyPr/>
        <a:lstStyle/>
        <a:p>
          <a:r>
            <a:rPr lang="en-GB" dirty="0">
              <a:latin typeface="Times New Roman" panose="02020603050405020304" pitchFamily="18" charset="0"/>
              <a:cs typeface="Times New Roman" panose="02020603050405020304" pitchFamily="18" charset="0"/>
            </a:rPr>
            <a:t>1990s</a:t>
          </a:r>
        </a:p>
      </dgm:t>
    </dgm:pt>
    <dgm:pt modelId="{A5D0B9D5-1987-3949-8E53-5CCE51B62A49}" type="parTrans" cxnId="{8C713B39-5AFB-9341-B74B-E870F0DE8019}">
      <dgm:prSet/>
      <dgm:spPr/>
      <dgm:t>
        <a:bodyPr/>
        <a:lstStyle/>
        <a:p>
          <a:endParaRPr lang="en-GB"/>
        </a:p>
      </dgm:t>
    </dgm:pt>
    <dgm:pt modelId="{E45F947B-D67D-CB46-8DD6-DB27AD2EAA3F}" type="sibTrans" cxnId="{8C713B39-5AFB-9341-B74B-E870F0DE8019}">
      <dgm:prSet/>
      <dgm:spPr/>
      <dgm:t>
        <a:bodyPr/>
        <a:lstStyle/>
        <a:p>
          <a:endParaRPr lang="en-GB"/>
        </a:p>
      </dgm:t>
    </dgm:pt>
    <dgm:pt modelId="{FC7D6EB0-B941-FC44-ABB9-84FFB1614408}">
      <dgm:prSet phldrT="[Text]"/>
      <dgm:spPr/>
      <dgm:t>
        <a:bodyPr/>
        <a:lstStyle/>
        <a:p>
          <a:r>
            <a:rPr lang="en-GB" dirty="0">
              <a:latin typeface="Times New Roman" panose="02020603050405020304" pitchFamily="18" charset="0"/>
              <a:cs typeface="Times New Roman" panose="02020603050405020304" pitchFamily="18" charset="0"/>
            </a:rPr>
            <a:t>Research into the use of neural networks for volatility forecasting </a:t>
          </a:r>
        </a:p>
      </dgm:t>
    </dgm:pt>
    <dgm:pt modelId="{C632CCB1-E9EC-3545-BDBF-0669450BD3E5}" type="parTrans" cxnId="{AE020957-3A77-F047-82C0-8EB2833A3E9D}">
      <dgm:prSet/>
      <dgm:spPr/>
      <dgm:t>
        <a:bodyPr/>
        <a:lstStyle/>
        <a:p>
          <a:endParaRPr lang="en-GB"/>
        </a:p>
      </dgm:t>
    </dgm:pt>
    <dgm:pt modelId="{13AF9A1E-14F4-6C40-AEEC-7B7213A4BDC0}" type="sibTrans" cxnId="{AE020957-3A77-F047-82C0-8EB2833A3E9D}">
      <dgm:prSet/>
      <dgm:spPr/>
      <dgm:t>
        <a:bodyPr/>
        <a:lstStyle/>
        <a:p>
          <a:endParaRPr lang="en-GB"/>
        </a:p>
      </dgm:t>
    </dgm:pt>
    <dgm:pt modelId="{C562CF1E-673A-9D4B-9692-436CF300B0BF}">
      <dgm:prSet phldrT="[Text]"/>
      <dgm:spPr/>
      <dgm:t>
        <a:bodyPr/>
        <a:lstStyle/>
        <a:p>
          <a:r>
            <a:rPr lang="en-GB" dirty="0">
              <a:latin typeface="Times New Roman" panose="02020603050405020304" pitchFamily="18" charset="0"/>
              <a:cs typeface="Times New Roman" panose="02020603050405020304" pitchFamily="18" charset="0"/>
            </a:rPr>
            <a:t>2000s</a:t>
          </a:r>
        </a:p>
      </dgm:t>
    </dgm:pt>
    <dgm:pt modelId="{BDAE3026-7E97-834A-990D-BCC21A20035B}" type="parTrans" cxnId="{6F905963-A414-FA4D-A6CA-FD6A70B33DC9}">
      <dgm:prSet/>
      <dgm:spPr/>
      <dgm:t>
        <a:bodyPr/>
        <a:lstStyle/>
        <a:p>
          <a:endParaRPr lang="en-GB"/>
        </a:p>
      </dgm:t>
    </dgm:pt>
    <dgm:pt modelId="{BF79C932-66C5-F843-BA28-86898F4E028A}" type="sibTrans" cxnId="{6F905963-A414-FA4D-A6CA-FD6A70B33DC9}">
      <dgm:prSet/>
      <dgm:spPr/>
      <dgm:t>
        <a:bodyPr/>
        <a:lstStyle/>
        <a:p>
          <a:endParaRPr lang="en-GB"/>
        </a:p>
      </dgm:t>
    </dgm:pt>
    <dgm:pt modelId="{E07B9573-0B66-8642-B931-12CA9C190AE7}">
      <dgm:prSet phldrT="[Text]"/>
      <dgm:spPr/>
      <dgm:t>
        <a:bodyPr/>
        <a:lstStyle/>
        <a:p>
          <a:r>
            <a:rPr lang="en-GB" dirty="0">
              <a:latin typeface="Times New Roman" panose="02020603050405020304" pitchFamily="18" charset="0"/>
              <a:cs typeface="Times New Roman" panose="02020603050405020304" pitchFamily="18" charset="0"/>
            </a:rPr>
            <a:t>GARCH models combined with artificial neural networks shown to outperform standalone model.</a:t>
          </a:r>
        </a:p>
      </dgm:t>
    </dgm:pt>
    <dgm:pt modelId="{E11B17C0-1045-D64F-A27A-4A45187723FA}" type="parTrans" cxnId="{5A538C9A-4C4F-1A4B-8379-8286DC52D957}">
      <dgm:prSet/>
      <dgm:spPr/>
      <dgm:t>
        <a:bodyPr/>
        <a:lstStyle/>
        <a:p>
          <a:endParaRPr lang="en-GB"/>
        </a:p>
      </dgm:t>
    </dgm:pt>
    <dgm:pt modelId="{6F177D8C-D7A9-BF4D-8725-AE8721074166}" type="sibTrans" cxnId="{5A538C9A-4C4F-1A4B-8379-8286DC52D957}">
      <dgm:prSet/>
      <dgm:spPr/>
      <dgm:t>
        <a:bodyPr/>
        <a:lstStyle/>
        <a:p>
          <a:endParaRPr lang="en-GB"/>
        </a:p>
      </dgm:t>
    </dgm:pt>
    <dgm:pt modelId="{89BABCB1-CFF6-4144-B0B9-521ABD74BEDB}">
      <dgm:prSet phldrT="[Text]"/>
      <dgm:spPr/>
      <dgm:t>
        <a:bodyPr/>
        <a:lstStyle/>
        <a:p>
          <a:r>
            <a:rPr lang="en-GB" dirty="0">
              <a:latin typeface="Times New Roman" panose="02020603050405020304" pitchFamily="18" charset="0"/>
              <a:cs typeface="Times New Roman" panose="02020603050405020304" pitchFamily="18" charset="0"/>
            </a:rPr>
            <a:t>2018-Present</a:t>
          </a:r>
        </a:p>
      </dgm:t>
    </dgm:pt>
    <dgm:pt modelId="{DD81D9AD-4084-5F4E-A94A-DB0403A90C8A}" type="parTrans" cxnId="{4E4CF2F0-4431-164F-8947-88AD78FD72FE}">
      <dgm:prSet/>
      <dgm:spPr/>
      <dgm:t>
        <a:bodyPr/>
        <a:lstStyle/>
        <a:p>
          <a:endParaRPr lang="en-GB"/>
        </a:p>
      </dgm:t>
    </dgm:pt>
    <dgm:pt modelId="{FFDB1859-19EB-904A-8833-4C31D8658489}" type="sibTrans" cxnId="{4E4CF2F0-4431-164F-8947-88AD78FD72FE}">
      <dgm:prSet/>
      <dgm:spPr/>
      <dgm:t>
        <a:bodyPr/>
        <a:lstStyle/>
        <a:p>
          <a:endParaRPr lang="en-GB"/>
        </a:p>
      </dgm:t>
    </dgm:pt>
    <dgm:pt modelId="{D8970DF1-F56E-8242-A608-15B7F7BA520A}">
      <dgm:prSet phldrT="[Text]"/>
      <dgm:spPr/>
      <dgm:t>
        <a:bodyPr/>
        <a:lstStyle/>
        <a:p>
          <a:r>
            <a:rPr lang="en-GB" dirty="0">
              <a:latin typeface="Times New Roman" panose="02020603050405020304" pitchFamily="18" charset="0"/>
              <a:cs typeface="Times New Roman" panose="02020603050405020304" pitchFamily="18" charset="0"/>
            </a:rPr>
            <a:t>Evidence showing GARCH-LSTMs outperform standalone models for volatility forecasting</a:t>
          </a:r>
        </a:p>
      </dgm:t>
    </dgm:pt>
    <dgm:pt modelId="{72A87577-349F-B14D-A389-8FD5D2604985}" type="parTrans" cxnId="{BD6D2B39-FEE7-3344-A56D-E9B83121E5FB}">
      <dgm:prSet/>
      <dgm:spPr/>
      <dgm:t>
        <a:bodyPr/>
        <a:lstStyle/>
        <a:p>
          <a:endParaRPr lang="en-GB"/>
        </a:p>
      </dgm:t>
    </dgm:pt>
    <dgm:pt modelId="{45804D92-1245-BE46-A44E-DBA950C126A3}" type="sibTrans" cxnId="{BD6D2B39-FEE7-3344-A56D-E9B83121E5FB}">
      <dgm:prSet/>
      <dgm:spPr/>
      <dgm:t>
        <a:bodyPr/>
        <a:lstStyle/>
        <a:p>
          <a:endParaRPr lang="en-GB"/>
        </a:p>
      </dgm:t>
    </dgm:pt>
    <dgm:pt modelId="{9F50E3AD-2AFD-BA48-9DDB-5F8863FAE7BD}">
      <dgm:prSet phldrT="[Text]"/>
      <dgm:spPr/>
      <dgm:t>
        <a:bodyPr/>
        <a:lstStyle/>
        <a:p>
          <a:r>
            <a:rPr lang="en-GB" dirty="0">
              <a:latin typeface="Times New Roman" panose="02020603050405020304" pitchFamily="18" charset="0"/>
              <a:cs typeface="Times New Roman" panose="02020603050405020304" pitchFamily="18" charset="0"/>
            </a:rPr>
            <a:t>2010s</a:t>
          </a:r>
        </a:p>
      </dgm:t>
    </dgm:pt>
    <dgm:pt modelId="{E5DD2ED6-3071-B844-B2FB-8748CA2272E0}" type="parTrans" cxnId="{4680680E-C15A-6945-9EEE-F2154466BF0C}">
      <dgm:prSet/>
      <dgm:spPr/>
      <dgm:t>
        <a:bodyPr/>
        <a:lstStyle/>
        <a:p>
          <a:endParaRPr lang="en-GB"/>
        </a:p>
      </dgm:t>
    </dgm:pt>
    <dgm:pt modelId="{72F2CAF0-68BC-1646-BFAA-915726838FCF}" type="sibTrans" cxnId="{4680680E-C15A-6945-9EEE-F2154466BF0C}">
      <dgm:prSet/>
      <dgm:spPr/>
      <dgm:t>
        <a:bodyPr/>
        <a:lstStyle/>
        <a:p>
          <a:endParaRPr lang="en-GB"/>
        </a:p>
      </dgm:t>
    </dgm:pt>
    <dgm:pt modelId="{C5D2962F-65FF-2341-96ED-2DDD8B42F9F8}">
      <dgm:prSet phldrT="[Text]"/>
      <dgm:spPr/>
      <dgm:t>
        <a:bodyPr/>
        <a:lstStyle/>
        <a:p>
          <a:r>
            <a:rPr lang="en-GB" dirty="0">
              <a:latin typeface="Times New Roman" panose="02020603050405020304" pitchFamily="18" charset="0"/>
              <a:cs typeface="Times New Roman" panose="02020603050405020304" pitchFamily="18" charset="0"/>
            </a:rPr>
            <a:t>LSTMs shown to outperform feed-forward neural network</a:t>
          </a:r>
        </a:p>
      </dgm:t>
    </dgm:pt>
    <dgm:pt modelId="{3CE2A710-DC06-7C49-84DE-C37CE3251639}" type="parTrans" cxnId="{70A1B331-53EB-2648-8928-2CA1C08B27A8}">
      <dgm:prSet/>
      <dgm:spPr/>
      <dgm:t>
        <a:bodyPr/>
        <a:lstStyle/>
        <a:p>
          <a:endParaRPr lang="en-GB"/>
        </a:p>
      </dgm:t>
    </dgm:pt>
    <dgm:pt modelId="{D49923E7-9E1B-C64D-B70A-FAE77B457E12}" type="sibTrans" cxnId="{70A1B331-53EB-2648-8928-2CA1C08B27A8}">
      <dgm:prSet/>
      <dgm:spPr/>
      <dgm:t>
        <a:bodyPr/>
        <a:lstStyle/>
        <a:p>
          <a:endParaRPr lang="en-GB"/>
        </a:p>
      </dgm:t>
    </dgm:pt>
    <dgm:pt modelId="{1F5E5A80-21F4-814F-9087-539937F89993}">
      <dgm:prSet phldrT="[Text]"/>
      <dgm:spPr/>
      <dgm:t>
        <a:bodyPr/>
        <a:lstStyle/>
        <a:p>
          <a:r>
            <a:rPr lang="en-GB" dirty="0">
              <a:latin typeface="Times New Roman" panose="02020603050405020304" pitchFamily="18" charset="0"/>
              <a:cs typeface="Times New Roman" panose="02020603050405020304" pitchFamily="18" charset="0"/>
            </a:rPr>
            <a:t>GARCH and various GARCH extensions introduced </a:t>
          </a:r>
        </a:p>
      </dgm:t>
    </dgm:pt>
    <dgm:pt modelId="{E7DE8E18-EA65-F04C-8509-0DCD822DA40E}" type="parTrans" cxnId="{0E1D7941-E0DC-0E4E-929C-9F9A339FE4B0}">
      <dgm:prSet/>
      <dgm:spPr/>
      <dgm:t>
        <a:bodyPr/>
        <a:lstStyle/>
        <a:p>
          <a:endParaRPr lang="en-GB"/>
        </a:p>
      </dgm:t>
    </dgm:pt>
    <dgm:pt modelId="{E111F2A5-5EED-1646-8CE8-4B924328E213}" type="sibTrans" cxnId="{0E1D7941-E0DC-0E4E-929C-9F9A339FE4B0}">
      <dgm:prSet/>
      <dgm:spPr/>
      <dgm:t>
        <a:bodyPr/>
        <a:lstStyle/>
        <a:p>
          <a:endParaRPr lang="en-GB"/>
        </a:p>
      </dgm:t>
    </dgm:pt>
    <dgm:pt modelId="{2981D5C5-A106-A64D-A5C5-B6EB39163B3F}">
      <dgm:prSet phldrT="[Text]"/>
      <dgm:spPr/>
      <dgm:t>
        <a:bodyPr/>
        <a:lstStyle/>
        <a:p>
          <a:r>
            <a:rPr lang="en-GB" dirty="0">
              <a:latin typeface="Times New Roman" panose="02020603050405020304" pitchFamily="18" charset="0"/>
              <a:cs typeface="Times New Roman" panose="02020603050405020304" pitchFamily="18" charset="0"/>
            </a:rPr>
            <a:t>Studies showed improved performance over GARCH</a:t>
          </a:r>
        </a:p>
      </dgm:t>
    </dgm:pt>
    <dgm:pt modelId="{42846822-1988-F949-BF0B-21B51EAC58FC}" type="parTrans" cxnId="{522289F8-7EE2-3842-A9F4-93A2C818BD2F}">
      <dgm:prSet/>
      <dgm:spPr/>
      <dgm:t>
        <a:bodyPr/>
        <a:lstStyle/>
        <a:p>
          <a:endParaRPr lang="en-GB"/>
        </a:p>
      </dgm:t>
    </dgm:pt>
    <dgm:pt modelId="{7729AA89-1033-8A49-B5A0-91EFAB14126A}" type="sibTrans" cxnId="{522289F8-7EE2-3842-A9F4-93A2C818BD2F}">
      <dgm:prSet/>
      <dgm:spPr/>
      <dgm:t>
        <a:bodyPr/>
        <a:lstStyle/>
        <a:p>
          <a:endParaRPr lang="en-GB"/>
        </a:p>
      </dgm:t>
    </dgm:pt>
    <dgm:pt modelId="{81C001D8-41E3-B247-9D35-47C7A0E1DF19}" type="pres">
      <dgm:prSet presAssocID="{E29A89D8-9D69-A94D-AE49-198B8688D33A}" presName="linearFlow" presStyleCnt="0">
        <dgm:presLayoutVars>
          <dgm:dir/>
          <dgm:animLvl val="lvl"/>
          <dgm:resizeHandles val="exact"/>
        </dgm:presLayoutVars>
      </dgm:prSet>
      <dgm:spPr/>
    </dgm:pt>
    <dgm:pt modelId="{4FF4D889-F256-7641-9A87-E65640220F5B}" type="pres">
      <dgm:prSet presAssocID="{53CEBC69-4F47-6B4C-94D0-860259410F56}" presName="composite" presStyleCnt="0"/>
      <dgm:spPr/>
    </dgm:pt>
    <dgm:pt modelId="{C25E0752-3299-5149-B2CB-3D3D7B63F029}" type="pres">
      <dgm:prSet presAssocID="{53CEBC69-4F47-6B4C-94D0-860259410F56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E0787753-D162-644A-BCD7-1CDF25CF6D2C}" type="pres">
      <dgm:prSet presAssocID="{53CEBC69-4F47-6B4C-94D0-860259410F56}" presName="descendantText" presStyleLbl="alignAcc1" presStyleIdx="0" presStyleCnt="5">
        <dgm:presLayoutVars>
          <dgm:bulletEnabled val="1"/>
        </dgm:presLayoutVars>
      </dgm:prSet>
      <dgm:spPr/>
    </dgm:pt>
    <dgm:pt modelId="{E964E019-F067-4C44-A06B-FB803317E2C6}" type="pres">
      <dgm:prSet presAssocID="{DA71DBE1-F3E9-F34E-B33C-728EDA543EC2}" presName="sp" presStyleCnt="0"/>
      <dgm:spPr/>
    </dgm:pt>
    <dgm:pt modelId="{C754DABC-AF99-B64A-B3E4-7B0617E7B7BF}" type="pres">
      <dgm:prSet presAssocID="{6DA12542-2CF8-564E-9B63-7604E304B646}" presName="composite" presStyleCnt="0"/>
      <dgm:spPr/>
    </dgm:pt>
    <dgm:pt modelId="{59095B29-F352-A44F-BEA6-0CA748FFA7DC}" type="pres">
      <dgm:prSet presAssocID="{6DA12542-2CF8-564E-9B63-7604E304B646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97D78A36-C706-C44E-A092-954FEA3BF857}" type="pres">
      <dgm:prSet presAssocID="{6DA12542-2CF8-564E-9B63-7604E304B646}" presName="descendantText" presStyleLbl="alignAcc1" presStyleIdx="1" presStyleCnt="5">
        <dgm:presLayoutVars>
          <dgm:bulletEnabled val="1"/>
        </dgm:presLayoutVars>
      </dgm:prSet>
      <dgm:spPr/>
    </dgm:pt>
    <dgm:pt modelId="{73DEC44B-5137-C44D-BE0B-DE3C33BA935D}" type="pres">
      <dgm:prSet presAssocID="{E45F947B-D67D-CB46-8DD6-DB27AD2EAA3F}" presName="sp" presStyleCnt="0"/>
      <dgm:spPr/>
    </dgm:pt>
    <dgm:pt modelId="{BF45C070-8BBA-334B-90D6-FEA04C4EA827}" type="pres">
      <dgm:prSet presAssocID="{C562CF1E-673A-9D4B-9692-436CF300B0BF}" presName="composite" presStyleCnt="0"/>
      <dgm:spPr/>
    </dgm:pt>
    <dgm:pt modelId="{EC1CDA53-2E9E-2A4A-9B5A-F0EFC28C5CC3}" type="pres">
      <dgm:prSet presAssocID="{C562CF1E-673A-9D4B-9692-436CF300B0BF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FBE69933-1E52-E443-99D4-73BE8E273929}" type="pres">
      <dgm:prSet presAssocID="{C562CF1E-673A-9D4B-9692-436CF300B0BF}" presName="descendantText" presStyleLbl="alignAcc1" presStyleIdx="2" presStyleCnt="5">
        <dgm:presLayoutVars>
          <dgm:bulletEnabled val="1"/>
        </dgm:presLayoutVars>
      </dgm:prSet>
      <dgm:spPr/>
    </dgm:pt>
    <dgm:pt modelId="{E330B9F4-65BA-0B47-82F9-C165793DA1E8}" type="pres">
      <dgm:prSet presAssocID="{BF79C932-66C5-F843-BA28-86898F4E028A}" presName="sp" presStyleCnt="0"/>
      <dgm:spPr/>
    </dgm:pt>
    <dgm:pt modelId="{B63A3089-7DE8-3C41-B715-7ECA5300D439}" type="pres">
      <dgm:prSet presAssocID="{9F50E3AD-2AFD-BA48-9DDB-5F8863FAE7BD}" presName="composite" presStyleCnt="0"/>
      <dgm:spPr/>
    </dgm:pt>
    <dgm:pt modelId="{043644E8-7596-D048-B2F1-B831B254C603}" type="pres">
      <dgm:prSet presAssocID="{9F50E3AD-2AFD-BA48-9DDB-5F8863FAE7BD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247468C4-08D6-9348-B364-990C3E237CD0}" type="pres">
      <dgm:prSet presAssocID="{9F50E3AD-2AFD-BA48-9DDB-5F8863FAE7BD}" presName="descendantText" presStyleLbl="alignAcc1" presStyleIdx="3" presStyleCnt="5">
        <dgm:presLayoutVars>
          <dgm:bulletEnabled val="1"/>
        </dgm:presLayoutVars>
      </dgm:prSet>
      <dgm:spPr/>
    </dgm:pt>
    <dgm:pt modelId="{07DEB8A7-1D14-0245-A0CE-A198ACD85DDB}" type="pres">
      <dgm:prSet presAssocID="{72F2CAF0-68BC-1646-BFAA-915726838FCF}" presName="sp" presStyleCnt="0"/>
      <dgm:spPr/>
    </dgm:pt>
    <dgm:pt modelId="{4A7384E5-1044-724C-AE8D-A079497E4B15}" type="pres">
      <dgm:prSet presAssocID="{89BABCB1-CFF6-4144-B0B9-521ABD74BEDB}" presName="composite" presStyleCnt="0"/>
      <dgm:spPr/>
    </dgm:pt>
    <dgm:pt modelId="{9E185C3E-4857-6841-9728-2FAE41CD65FF}" type="pres">
      <dgm:prSet presAssocID="{89BABCB1-CFF6-4144-B0B9-521ABD74BEDB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DFE54FC9-7AB1-1445-A039-652583EC7AB0}" type="pres">
      <dgm:prSet presAssocID="{89BABCB1-CFF6-4144-B0B9-521ABD74BEDB}" presName="descendantText" presStyleLbl="alignAcc1" presStyleIdx="4" presStyleCnt="5">
        <dgm:presLayoutVars>
          <dgm:bulletEnabled val="1"/>
        </dgm:presLayoutVars>
      </dgm:prSet>
      <dgm:spPr/>
    </dgm:pt>
  </dgm:ptLst>
  <dgm:cxnLst>
    <dgm:cxn modelId="{4680680E-C15A-6945-9EEE-F2154466BF0C}" srcId="{E29A89D8-9D69-A94D-AE49-198B8688D33A}" destId="{9F50E3AD-2AFD-BA48-9DDB-5F8863FAE7BD}" srcOrd="3" destOrd="0" parTransId="{E5DD2ED6-3071-B844-B2FB-8748CA2272E0}" sibTransId="{72F2CAF0-68BC-1646-BFAA-915726838FCF}"/>
    <dgm:cxn modelId="{70A1B331-53EB-2648-8928-2CA1C08B27A8}" srcId="{9F50E3AD-2AFD-BA48-9DDB-5F8863FAE7BD}" destId="{C5D2962F-65FF-2341-96ED-2DDD8B42F9F8}" srcOrd="0" destOrd="0" parTransId="{3CE2A710-DC06-7C49-84DE-C37CE3251639}" sibTransId="{D49923E7-9E1B-C64D-B70A-FAE77B457E12}"/>
    <dgm:cxn modelId="{BD6D2B39-FEE7-3344-A56D-E9B83121E5FB}" srcId="{89BABCB1-CFF6-4144-B0B9-521ABD74BEDB}" destId="{D8970DF1-F56E-8242-A608-15B7F7BA520A}" srcOrd="0" destOrd="0" parTransId="{72A87577-349F-B14D-A389-8FD5D2604985}" sibTransId="{45804D92-1245-BE46-A44E-DBA950C126A3}"/>
    <dgm:cxn modelId="{8C713B39-5AFB-9341-B74B-E870F0DE8019}" srcId="{E29A89D8-9D69-A94D-AE49-198B8688D33A}" destId="{6DA12542-2CF8-564E-9B63-7604E304B646}" srcOrd="1" destOrd="0" parTransId="{A5D0B9D5-1987-3949-8E53-5CCE51B62A49}" sibTransId="{E45F947B-D67D-CB46-8DD6-DB27AD2EAA3F}"/>
    <dgm:cxn modelId="{0E1D7941-E0DC-0E4E-929C-9F9A339FE4B0}" srcId="{53CEBC69-4F47-6B4C-94D0-860259410F56}" destId="{1F5E5A80-21F4-814F-9087-539937F89993}" srcOrd="1" destOrd="0" parTransId="{E7DE8E18-EA65-F04C-8509-0DCD822DA40E}" sibTransId="{E111F2A5-5EED-1646-8CE8-4B924328E213}"/>
    <dgm:cxn modelId="{22280945-1309-F441-8E3E-118C2494265C}" type="presOf" srcId="{FC7D6EB0-B941-FC44-ABB9-84FFB1614408}" destId="{97D78A36-C706-C44E-A092-954FEA3BF857}" srcOrd="0" destOrd="0" presId="urn:microsoft.com/office/officeart/2005/8/layout/chevron2"/>
    <dgm:cxn modelId="{FD85E246-E69E-C64F-8F65-192E8113C4A8}" type="presOf" srcId="{9F50E3AD-2AFD-BA48-9DDB-5F8863FAE7BD}" destId="{043644E8-7596-D048-B2F1-B831B254C603}" srcOrd="0" destOrd="0" presId="urn:microsoft.com/office/officeart/2005/8/layout/chevron2"/>
    <dgm:cxn modelId="{AE020957-3A77-F047-82C0-8EB2833A3E9D}" srcId="{6DA12542-2CF8-564E-9B63-7604E304B646}" destId="{FC7D6EB0-B941-FC44-ABB9-84FFB1614408}" srcOrd="0" destOrd="0" parTransId="{C632CCB1-E9EC-3545-BDBF-0669450BD3E5}" sibTransId="{13AF9A1E-14F4-6C40-AEEC-7B7213A4BDC0}"/>
    <dgm:cxn modelId="{D01D2D57-F22F-E143-9A09-F5717D50564B}" type="presOf" srcId="{2981D5C5-A106-A64D-A5C5-B6EB39163B3F}" destId="{97D78A36-C706-C44E-A092-954FEA3BF857}" srcOrd="0" destOrd="1" presId="urn:microsoft.com/office/officeart/2005/8/layout/chevron2"/>
    <dgm:cxn modelId="{F5669E60-BC1C-BF41-ACB1-46AACDF2C9C9}" type="presOf" srcId="{6DA12542-2CF8-564E-9B63-7604E304B646}" destId="{59095B29-F352-A44F-BEA6-0CA748FFA7DC}" srcOrd="0" destOrd="0" presId="urn:microsoft.com/office/officeart/2005/8/layout/chevron2"/>
    <dgm:cxn modelId="{6F905963-A414-FA4D-A6CA-FD6A70B33DC9}" srcId="{E29A89D8-9D69-A94D-AE49-198B8688D33A}" destId="{C562CF1E-673A-9D4B-9692-436CF300B0BF}" srcOrd="2" destOrd="0" parTransId="{BDAE3026-7E97-834A-990D-BCC21A20035B}" sibTransId="{BF79C932-66C5-F843-BA28-86898F4E028A}"/>
    <dgm:cxn modelId="{7B338063-5ACF-994E-B820-0B079302282D}" srcId="{E29A89D8-9D69-A94D-AE49-198B8688D33A}" destId="{53CEBC69-4F47-6B4C-94D0-860259410F56}" srcOrd="0" destOrd="0" parTransId="{8B46D5E1-99E3-634E-9008-EC93F8DBBDFF}" sibTransId="{DA71DBE1-F3E9-F34E-B33C-728EDA543EC2}"/>
    <dgm:cxn modelId="{4D167872-6C19-CC44-ACC1-83BC593D9F76}" type="presOf" srcId="{D6EF2B6F-DEA8-104A-89DE-B1C1655269C2}" destId="{E0787753-D162-644A-BCD7-1CDF25CF6D2C}" srcOrd="0" destOrd="0" presId="urn:microsoft.com/office/officeart/2005/8/layout/chevron2"/>
    <dgm:cxn modelId="{9F136F78-9F47-F84D-BB0B-07BE99A262C1}" srcId="{53CEBC69-4F47-6B4C-94D0-860259410F56}" destId="{D6EF2B6F-DEA8-104A-89DE-B1C1655269C2}" srcOrd="0" destOrd="0" parTransId="{8472AB59-AA08-5D47-BD3A-74162202446B}" sibTransId="{1E18BAFE-4863-4848-B1DA-AE616CABFE13}"/>
    <dgm:cxn modelId="{5A538C9A-4C4F-1A4B-8379-8286DC52D957}" srcId="{C562CF1E-673A-9D4B-9692-436CF300B0BF}" destId="{E07B9573-0B66-8642-B931-12CA9C190AE7}" srcOrd="0" destOrd="0" parTransId="{E11B17C0-1045-D64F-A27A-4A45187723FA}" sibTransId="{6F177D8C-D7A9-BF4D-8725-AE8721074166}"/>
    <dgm:cxn modelId="{073F20A4-485B-9A4F-A2CD-56EFCB4179F1}" type="presOf" srcId="{C5D2962F-65FF-2341-96ED-2DDD8B42F9F8}" destId="{247468C4-08D6-9348-B364-990C3E237CD0}" srcOrd="0" destOrd="0" presId="urn:microsoft.com/office/officeart/2005/8/layout/chevron2"/>
    <dgm:cxn modelId="{98D9F0C6-D211-C14B-AF53-2DA418B3C5E8}" type="presOf" srcId="{89BABCB1-CFF6-4144-B0B9-521ABD74BEDB}" destId="{9E185C3E-4857-6841-9728-2FAE41CD65FF}" srcOrd="0" destOrd="0" presId="urn:microsoft.com/office/officeart/2005/8/layout/chevron2"/>
    <dgm:cxn modelId="{32FF7ED9-DB3F-4C41-9244-0C8DEC337C8A}" type="presOf" srcId="{C562CF1E-673A-9D4B-9692-436CF300B0BF}" destId="{EC1CDA53-2E9E-2A4A-9B5A-F0EFC28C5CC3}" srcOrd="0" destOrd="0" presId="urn:microsoft.com/office/officeart/2005/8/layout/chevron2"/>
    <dgm:cxn modelId="{BFDBF9E9-11B7-FA48-946D-A0BB1DC5E3C0}" type="presOf" srcId="{E07B9573-0B66-8642-B931-12CA9C190AE7}" destId="{FBE69933-1E52-E443-99D4-73BE8E273929}" srcOrd="0" destOrd="0" presId="urn:microsoft.com/office/officeart/2005/8/layout/chevron2"/>
    <dgm:cxn modelId="{3A6C48EC-F2FF-114C-AAD3-60F57F68BD2E}" type="presOf" srcId="{D8970DF1-F56E-8242-A608-15B7F7BA520A}" destId="{DFE54FC9-7AB1-1445-A039-652583EC7AB0}" srcOrd="0" destOrd="0" presId="urn:microsoft.com/office/officeart/2005/8/layout/chevron2"/>
    <dgm:cxn modelId="{4B8A5AEE-88DB-BD44-917A-609BB7BE8534}" type="presOf" srcId="{1F5E5A80-21F4-814F-9087-539937F89993}" destId="{E0787753-D162-644A-BCD7-1CDF25CF6D2C}" srcOrd="0" destOrd="1" presId="urn:microsoft.com/office/officeart/2005/8/layout/chevron2"/>
    <dgm:cxn modelId="{4E4CF2F0-4431-164F-8947-88AD78FD72FE}" srcId="{E29A89D8-9D69-A94D-AE49-198B8688D33A}" destId="{89BABCB1-CFF6-4144-B0B9-521ABD74BEDB}" srcOrd="4" destOrd="0" parTransId="{DD81D9AD-4084-5F4E-A94A-DB0403A90C8A}" sibTransId="{FFDB1859-19EB-904A-8833-4C31D8658489}"/>
    <dgm:cxn modelId="{2767ECF7-1E8D-8D4F-8883-1DCE7B4E3CB7}" type="presOf" srcId="{E29A89D8-9D69-A94D-AE49-198B8688D33A}" destId="{81C001D8-41E3-B247-9D35-47C7A0E1DF19}" srcOrd="0" destOrd="0" presId="urn:microsoft.com/office/officeart/2005/8/layout/chevron2"/>
    <dgm:cxn modelId="{522289F8-7EE2-3842-A9F4-93A2C818BD2F}" srcId="{6DA12542-2CF8-564E-9B63-7604E304B646}" destId="{2981D5C5-A106-A64D-A5C5-B6EB39163B3F}" srcOrd="1" destOrd="0" parTransId="{42846822-1988-F949-BF0B-21B51EAC58FC}" sibTransId="{7729AA89-1033-8A49-B5A0-91EFAB14126A}"/>
    <dgm:cxn modelId="{C4B5A6F9-2238-644B-B9FC-04C4B5CE49E7}" type="presOf" srcId="{53CEBC69-4F47-6B4C-94D0-860259410F56}" destId="{C25E0752-3299-5149-B2CB-3D3D7B63F029}" srcOrd="0" destOrd="0" presId="urn:microsoft.com/office/officeart/2005/8/layout/chevron2"/>
    <dgm:cxn modelId="{63078993-708F-C443-99A2-0BC676D5A4D8}" type="presParOf" srcId="{81C001D8-41E3-B247-9D35-47C7A0E1DF19}" destId="{4FF4D889-F256-7641-9A87-E65640220F5B}" srcOrd="0" destOrd="0" presId="urn:microsoft.com/office/officeart/2005/8/layout/chevron2"/>
    <dgm:cxn modelId="{73A05B96-00F7-3842-BD2D-C229CA777276}" type="presParOf" srcId="{4FF4D889-F256-7641-9A87-E65640220F5B}" destId="{C25E0752-3299-5149-B2CB-3D3D7B63F029}" srcOrd="0" destOrd="0" presId="urn:microsoft.com/office/officeart/2005/8/layout/chevron2"/>
    <dgm:cxn modelId="{F2276AB7-4FB6-0E4F-BB03-E31FE2F7DBCA}" type="presParOf" srcId="{4FF4D889-F256-7641-9A87-E65640220F5B}" destId="{E0787753-D162-644A-BCD7-1CDF25CF6D2C}" srcOrd="1" destOrd="0" presId="urn:microsoft.com/office/officeart/2005/8/layout/chevron2"/>
    <dgm:cxn modelId="{03F576C7-168F-DB45-B797-5B69FD49815F}" type="presParOf" srcId="{81C001D8-41E3-B247-9D35-47C7A0E1DF19}" destId="{E964E019-F067-4C44-A06B-FB803317E2C6}" srcOrd="1" destOrd="0" presId="urn:microsoft.com/office/officeart/2005/8/layout/chevron2"/>
    <dgm:cxn modelId="{7734C4A7-2CC9-934E-AE30-1FB7094A2749}" type="presParOf" srcId="{81C001D8-41E3-B247-9D35-47C7A0E1DF19}" destId="{C754DABC-AF99-B64A-B3E4-7B0617E7B7BF}" srcOrd="2" destOrd="0" presId="urn:microsoft.com/office/officeart/2005/8/layout/chevron2"/>
    <dgm:cxn modelId="{D31013A4-2908-AB48-A989-4B81798D9F80}" type="presParOf" srcId="{C754DABC-AF99-B64A-B3E4-7B0617E7B7BF}" destId="{59095B29-F352-A44F-BEA6-0CA748FFA7DC}" srcOrd="0" destOrd="0" presId="urn:microsoft.com/office/officeart/2005/8/layout/chevron2"/>
    <dgm:cxn modelId="{4A0901DB-DC18-CC4F-9235-3F2F94EAEB47}" type="presParOf" srcId="{C754DABC-AF99-B64A-B3E4-7B0617E7B7BF}" destId="{97D78A36-C706-C44E-A092-954FEA3BF857}" srcOrd="1" destOrd="0" presId="urn:microsoft.com/office/officeart/2005/8/layout/chevron2"/>
    <dgm:cxn modelId="{F19B2AD2-E6FB-AF4F-A9CD-1FB67B180C3E}" type="presParOf" srcId="{81C001D8-41E3-B247-9D35-47C7A0E1DF19}" destId="{73DEC44B-5137-C44D-BE0B-DE3C33BA935D}" srcOrd="3" destOrd="0" presId="urn:microsoft.com/office/officeart/2005/8/layout/chevron2"/>
    <dgm:cxn modelId="{19B63440-5A9A-6B4B-B79A-1341C9DA32D3}" type="presParOf" srcId="{81C001D8-41E3-B247-9D35-47C7A0E1DF19}" destId="{BF45C070-8BBA-334B-90D6-FEA04C4EA827}" srcOrd="4" destOrd="0" presId="urn:microsoft.com/office/officeart/2005/8/layout/chevron2"/>
    <dgm:cxn modelId="{B2EED623-81A7-584D-BEEA-8B8266401F1E}" type="presParOf" srcId="{BF45C070-8BBA-334B-90D6-FEA04C4EA827}" destId="{EC1CDA53-2E9E-2A4A-9B5A-F0EFC28C5CC3}" srcOrd="0" destOrd="0" presId="urn:microsoft.com/office/officeart/2005/8/layout/chevron2"/>
    <dgm:cxn modelId="{15B297CD-2737-5749-93FF-77C164CA8F43}" type="presParOf" srcId="{BF45C070-8BBA-334B-90D6-FEA04C4EA827}" destId="{FBE69933-1E52-E443-99D4-73BE8E273929}" srcOrd="1" destOrd="0" presId="urn:microsoft.com/office/officeart/2005/8/layout/chevron2"/>
    <dgm:cxn modelId="{202712DC-8DB5-C04D-9FE0-6101AE0DCA3B}" type="presParOf" srcId="{81C001D8-41E3-B247-9D35-47C7A0E1DF19}" destId="{E330B9F4-65BA-0B47-82F9-C165793DA1E8}" srcOrd="5" destOrd="0" presId="urn:microsoft.com/office/officeart/2005/8/layout/chevron2"/>
    <dgm:cxn modelId="{08D6C0BA-1FFC-FF49-BD53-FFCF7C61ABB3}" type="presParOf" srcId="{81C001D8-41E3-B247-9D35-47C7A0E1DF19}" destId="{B63A3089-7DE8-3C41-B715-7ECA5300D439}" srcOrd="6" destOrd="0" presId="urn:microsoft.com/office/officeart/2005/8/layout/chevron2"/>
    <dgm:cxn modelId="{381A7DE4-C9EB-CD4B-9DCD-8FDF6BDC0127}" type="presParOf" srcId="{B63A3089-7DE8-3C41-B715-7ECA5300D439}" destId="{043644E8-7596-D048-B2F1-B831B254C603}" srcOrd="0" destOrd="0" presId="urn:microsoft.com/office/officeart/2005/8/layout/chevron2"/>
    <dgm:cxn modelId="{2414F214-30E0-4843-8FE4-23571147BA92}" type="presParOf" srcId="{B63A3089-7DE8-3C41-B715-7ECA5300D439}" destId="{247468C4-08D6-9348-B364-990C3E237CD0}" srcOrd="1" destOrd="0" presId="urn:microsoft.com/office/officeart/2005/8/layout/chevron2"/>
    <dgm:cxn modelId="{3F6A2676-EA02-EA41-B346-2F0F1EACEFB8}" type="presParOf" srcId="{81C001D8-41E3-B247-9D35-47C7A0E1DF19}" destId="{07DEB8A7-1D14-0245-A0CE-A198ACD85DDB}" srcOrd="7" destOrd="0" presId="urn:microsoft.com/office/officeart/2005/8/layout/chevron2"/>
    <dgm:cxn modelId="{A1C6060E-11FE-AC48-9F85-2ED42546DB3F}" type="presParOf" srcId="{81C001D8-41E3-B247-9D35-47C7A0E1DF19}" destId="{4A7384E5-1044-724C-AE8D-A079497E4B15}" srcOrd="8" destOrd="0" presId="urn:microsoft.com/office/officeart/2005/8/layout/chevron2"/>
    <dgm:cxn modelId="{9C54C1C3-F158-5C4D-81A4-1954C3488EDE}" type="presParOf" srcId="{4A7384E5-1044-724C-AE8D-A079497E4B15}" destId="{9E185C3E-4857-6841-9728-2FAE41CD65FF}" srcOrd="0" destOrd="0" presId="urn:microsoft.com/office/officeart/2005/8/layout/chevron2"/>
    <dgm:cxn modelId="{F1B90187-1E94-C545-92BD-4F69EB245E32}" type="presParOf" srcId="{4A7384E5-1044-724C-AE8D-A079497E4B15}" destId="{DFE54FC9-7AB1-1445-A039-652583EC7AB0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BC6AC18-E994-344F-B166-CBD3E26F1B60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GB"/>
        </a:p>
      </dgm:t>
    </dgm:pt>
    <dgm:pt modelId="{24BB120D-C930-F344-88F6-56044C840070}">
      <dgm:prSet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Aim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:</a:t>
          </a:r>
          <a:endParaRPr lang="en-GB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C86B1F8-8A98-BD47-A785-977020B51EC7}" type="parTrans" cxnId="{CDD4C743-6630-C546-B45D-56243636FD77}">
      <dgm:prSet/>
      <dgm:spPr/>
      <dgm:t>
        <a:bodyPr/>
        <a:lstStyle/>
        <a:p>
          <a:endParaRPr lang="en-GB"/>
        </a:p>
      </dgm:t>
    </dgm:pt>
    <dgm:pt modelId="{D9299392-3F7A-8947-9B14-91BDB108602C}" type="sibTrans" cxnId="{CDD4C743-6630-C546-B45D-56243636FD77}">
      <dgm:prSet/>
      <dgm:spPr/>
      <dgm:t>
        <a:bodyPr/>
        <a:lstStyle/>
        <a:p>
          <a:endParaRPr lang="en-GB"/>
        </a:p>
      </dgm:t>
    </dgm:pt>
    <dgm:pt modelId="{0D9FCBCD-0FB7-604D-8A83-60F6B5181DB9}">
      <dgm:prSet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Main Questions &amp; Contribution to Literature: </a:t>
          </a:r>
          <a:endParaRPr lang="en-GB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8ABD5FC-4AF3-8247-B677-66F4626C97A9}" type="parTrans" cxnId="{BDA0DF6C-5BB9-A446-89AC-3B947361EBC5}">
      <dgm:prSet/>
      <dgm:spPr/>
      <dgm:t>
        <a:bodyPr/>
        <a:lstStyle/>
        <a:p>
          <a:endParaRPr lang="en-GB"/>
        </a:p>
      </dgm:t>
    </dgm:pt>
    <dgm:pt modelId="{A0BD039E-2F8E-894E-A15C-CABB038539F7}" type="sibTrans" cxnId="{BDA0DF6C-5BB9-A446-89AC-3B947361EBC5}">
      <dgm:prSet/>
      <dgm:spPr/>
      <dgm:t>
        <a:bodyPr/>
        <a:lstStyle/>
        <a:p>
          <a:endParaRPr lang="en-GB"/>
        </a:p>
      </dgm:t>
    </dgm:pt>
    <dgm:pt modelId="{4FBE86D5-0390-0244-9D49-6AC7D3A11474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Validate that a GARCH-LSTM can outperform standalone models.</a:t>
          </a:r>
          <a:endParaRPr lang="en-GB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3EDE357-6EED-074B-9D3C-875610AC36C3}" type="parTrans" cxnId="{0E3FC228-894C-3643-BD6D-F42573F7DDFE}">
      <dgm:prSet/>
      <dgm:spPr/>
      <dgm:t>
        <a:bodyPr/>
        <a:lstStyle/>
        <a:p>
          <a:endParaRPr lang="en-GB"/>
        </a:p>
      </dgm:t>
    </dgm:pt>
    <dgm:pt modelId="{62785A3F-3E72-0340-9D75-72DDB6EEA88D}" type="sibTrans" cxnId="{0E3FC228-894C-3643-BD6D-F42573F7DDFE}">
      <dgm:prSet/>
      <dgm:spPr/>
      <dgm:t>
        <a:bodyPr/>
        <a:lstStyle/>
        <a:p>
          <a:endParaRPr lang="en-GB"/>
        </a:p>
      </dgm:t>
    </dgm:pt>
    <dgm:pt modelId="{FB1438DB-2D18-C649-82B2-E0A78639F304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Evaluate performance of model when given a larger lookback window (252 days).</a:t>
          </a:r>
          <a:endParaRPr lang="en-GB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96637EA-A7E8-2D4D-AE20-C0A389ADE855}" type="parTrans" cxnId="{9E98B874-1ED0-E944-AEF5-AAADD8A3234A}">
      <dgm:prSet/>
      <dgm:spPr/>
      <dgm:t>
        <a:bodyPr/>
        <a:lstStyle/>
        <a:p>
          <a:endParaRPr lang="en-GB"/>
        </a:p>
      </dgm:t>
    </dgm:pt>
    <dgm:pt modelId="{9FAC0002-504D-D749-B9C7-F3EBCE7F9233}" type="sibTrans" cxnId="{9E98B874-1ED0-E944-AEF5-AAADD8A3234A}">
      <dgm:prSet/>
      <dgm:spPr/>
      <dgm:t>
        <a:bodyPr/>
        <a:lstStyle/>
        <a:p>
          <a:endParaRPr lang="en-GB"/>
        </a:p>
      </dgm:t>
    </dgm:pt>
    <dgm:pt modelId="{C76DFD8B-779D-8D45-86F8-48229CAC9936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Evaluate the performance of GARCH, LSTM and a hybrid GARCH-LSTM model in forecasting the daily realized volatility of the S&amp;P 500.</a:t>
          </a:r>
          <a:endParaRPr lang="en-GB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B8B8F1B-F832-7B42-995F-4DFD7BA92C2A}" type="parTrans" cxnId="{14D638CA-93A7-1049-AC8D-FFAC40B1B44A}">
      <dgm:prSet/>
      <dgm:spPr/>
      <dgm:t>
        <a:bodyPr/>
        <a:lstStyle/>
        <a:p>
          <a:endParaRPr lang="en-GB"/>
        </a:p>
      </dgm:t>
    </dgm:pt>
    <dgm:pt modelId="{52E5CE3B-6235-0D45-8B2E-1EE6C30A26C8}" type="sibTrans" cxnId="{14D638CA-93A7-1049-AC8D-FFAC40B1B44A}">
      <dgm:prSet/>
      <dgm:spPr/>
      <dgm:t>
        <a:bodyPr/>
        <a:lstStyle/>
        <a:p>
          <a:endParaRPr lang="en-GB"/>
        </a:p>
      </dgm:t>
    </dgm:pt>
    <dgm:pt modelId="{D45F5D45-8E43-3846-A9D7-156CC19A6E61}" type="pres">
      <dgm:prSet presAssocID="{FBC6AC18-E994-344F-B166-CBD3E26F1B60}" presName="linear" presStyleCnt="0">
        <dgm:presLayoutVars>
          <dgm:animLvl val="lvl"/>
          <dgm:resizeHandles val="exact"/>
        </dgm:presLayoutVars>
      </dgm:prSet>
      <dgm:spPr/>
    </dgm:pt>
    <dgm:pt modelId="{61A39AE9-F9B2-D84D-987F-E6C5F7A7231E}" type="pres">
      <dgm:prSet presAssocID="{24BB120D-C930-F344-88F6-56044C84007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3585146-FF04-C443-BD6A-1517A18176FD}" type="pres">
      <dgm:prSet presAssocID="{24BB120D-C930-F344-88F6-56044C840070}" presName="childText" presStyleLbl="revTx" presStyleIdx="0" presStyleCnt="2">
        <dgm:presLayoutVars>
          <dgm:bulletEnabled val="1"/>
        </dgm:presLayoutVars>
      </dgm:prSet>
      <dgm:spPr/>
    </dgm:pt>
    <dgm:pt modelId="{370B7246-A6CA-5B4E-A802-B4E4290DE25A}" type="pres">
      <dgm:prSet presAssocID="{0D9FCBCD-0FB7-604D-8A83-60F6B5181DB9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37E7B31E-9906-2249-9035-4112F3D78684}" type="pres">
      <dgm:prSet presAssocID="{0D9FCBCD-0FB7-604D-8A83-60F6B5181DB9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26D6640D-E0DA-F04F-8EA0-3C6FA95C238C}" type="presOf" srcId="{FB1438DB-2D18-C649-82B2-E0A78639F304}" destId="{37E7B31E-9906-2249-9035-4112F3D78684}" srcOrd="0" destOrd="1" presId="urn:microsoft.com/office/officeart/2005/8/layout/vList2"/>
    <dgm:cxn modelId="{26982312-0618-9443-8574-2C3BB2273950}" type="presOf" srcId="{24BB120D-C930-F344-88F6-56044C840070}" destId="{61A39AE9-F9B2-D84D-987F-E6C5F7A7231E}" srcOrd="0" destOrd="0" presId="urn:microsoft.com/office/officeart/2005/8/layout/vList2"/>
    <dgm:cxn modelId="{A9383925-EF62-DD43-8774-6C528A801A9E}" type="presOf" srcId="{4FBE86D5-0390-0244-9D49-6AC7D3A11474}" destId="{37E7B31E-9906-2249-9035-4112F3D78684}" srcOrd="0" destOrd="0" presId="urn:microsoft.com/office/officeart/2005/8/layout/vList2"/>
    <dgm:cxn modelId="{0E3FC228-894C-3643-BD6D-F42573F7DDFE}" srcId="{0D9FCBCD-0FB7-604D-8A83-60F6B5181DB9}" destId="{4FBE86D5-0390-0244-9D49-6AC7D3A11474}" srcOrd="0" destOrd="0" parTransId="{13EDE357-6EED-074B-9D3C-875610AC36C3}" sibTransId="{62785A3F-3E72-0340-9D75-72DDB6EEA88D}"/>
    <dgm:cxn modelId="{CDD4C743-6630-C546-B45D-56243636FD77}" srcId="{FBC6AC18-E994-344F-B166-CBD3E26F1B60}" destId="{24BB120D-C930-F344-88F6-56044C840070}" srcOrd="0" destOrd="0" parTransId="{1C86B1F8-8A98-BD47-A785-977020B51EC7}" sibTransId="{D9299392-3F7A-8947-9B14-91BDB108602C}"/>
    <dgm:cxn modelId="{BDA0DF6C-5BB9-A446-89AC-3B947361EBC5}" srcId="{FBC6AC18-E994-344F-B166-CBD3E26F1B60}" destId="{0D9FCBCD-0FB7-604D-8A83-60F6B5181DB9}" srcOrd="1" destOrd="0" parTransId="{E8ABD5FC-4AF3-8247-B677-66F4626C97A9}" sibTransId="{A0BD039E-2F8E-894E-A15C-CABB038539F7}"/>
    <dgm:cxn modelId="{9E98B874-1ED0-E944-AEF5-AAADD8A3234A}" srcId="{0D9FCBCD-0FB7-604D-8A83-60F6B5181DB9}" destId="{FB1438DB-2D18-C649-82B2-E0A78639F304}" srcOrd="1" destOrd="0" parTransId="{E96637EA-A7E8-2D4D-AE20-C0A389ADE855}" sibTransId="{9FAC0002-504D-D749-B9C7-F3EBCE7F9233}"/>
    <dgm:cxn modelId="{D524B793-971C-1345-9E5F-18223104C8A7}" type="presOf" srcId="{0D9FCBCD-0FB7-604D-8A83-60F6B5181DB9}" destId="{370B7246-A6CA-5B4E-A802-B4E4290DE25A}" srcOrd="0" destOrd="0" presId="urn:microsoft.com/office/officeart/2005/8/layout/vList2"/>
    <dgm:cxn modelId="{0004D3A3-B1E1-8742-B682-DA9F483C9BB1}" type="presOf" srcId="{C76DFD8B-779D-8D45-86F8-48229CAC9936}" destId="{83585146-FF04-C443-BD6A-1517A18176FD}" srcOrd="0" destOrd="0" presId="urn:microsoft.com/office/officeart/2005/8/layout/vList2"/>
    <dgm:cxn modelId="{7E70EEB9-37E6-FF4E-A074-18216E528645}" type="presOf" srcId="{FBC6AC18-E994-344F-B166-CBD3E26F1B60}" destId="{D45F5D45-8E43-3846-A9D7-156CC19A6E61}" srcOrd="0" destOrd="0" presId="urn:microsoft.com/office/officeart/2005/8/layout/vList2"/>
    <dgm:cxn modelId="{14D638CA-93A7-1049-AC8D-FFAC40B1B44A}" srcId="{24BB120D-C930-F344-88F6-56044C840070}" destId="{C76DFD8B-779D-8D45-86F8-48229CAC9936}" srcOrd="0" destOrd="0" parTransId="{0B8B8F1B-F832-7B42-995F-4DFD7BA92C2A}" sibTransId="{52E5CE3B-6235-0D45-8B2E-1EE6C30A26C8}"/>
    <dgm:cxn modelId="{C3144CEB-5B9C-0140-AC6C-562B9E45C532}" type="presParOf" srcId="{D45F5D45-8E43-3846-A9D7-156CC19A6E61}" destId="{61A39AE9-F9B2-D84D-987F-E6C5F7A7231E}" srcOrd="0" destOrd="0" presId="urn:microsoft.com/office/officeart/2005/8/layout/vList2"/>
    <dgm:cxn modelId="{A95F254A-173B-734B-A744-9C6108364A1B}" type="presParOf" srcId="{D45F5D45-8E43-3846-A9D7-156CC19A6E61}" destId="{83585146-FF04-C443-BD6A-1517A18176FD}" srcOrd="1" destOrd="0" presId="urn:microsoft.com/office/officeart/2005/8/layout/vList2"/>
    <dgm:cxn modelId="{DA20F8BE-70F4-B641-82F2-2698DBF712FB}" type="presParOf" srcId="{D45F5D45-8E43-3846-A9D7-156CC19A6E61}" destId="{370B7246-A6CA-5B4E-A802-B4E4290DE25A}" srcOrd="2" destOrd="0" presId="urn:microsoft.com/office/officeart/2005/8/layout/vList2"/>
    <dgm:cxn modelId="{5CEF51E4-E8F5-1D46-B613-B6B9C51B3AF9}" type="presParOf" srcId="{D45F5D45-8E43-3846-A9D7-156CC19A6E61}" destId="{37E7B31E-9906-2249-9035-4112F3D78684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4612A8F-5497-F34F-9DBD-FFB9628635C9}" type="doc">
      <dgm:prSet loTypeId="urn:microsoft.com/office/officeart/2005/8/layout/hProcess9" loCatId="process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GB"/>
        </a:p>
      </dgm:t>
    </dgm:pt>
    <dgm:pt modelId="{F335358A-E72F-C24C-9AE9-5B64183790D2}">
      <dgm:prSet/>
      <dgm:spPr/>
      <dgm:t>
        <a:bodyPr/>
        <a:lstStyle/>
        <a:p>
          <a:r>
            <a:rPr lang="en-US" dirty="0"/>
            <a:t>Build simple GARCH, LSTM, GARCH-LSTM models and evaluate performance. </a:t>
          </a:r>
          <a:endParaRPr lang="en-GB" dirty="0"/>
        </a:p>
      </dgm:t>
    </dgm:pt>
    <dgm:pt modelId="{A81BBFE2-9573-FF45-8431-9F4EAF880C1D}" type="parTrans" cxnId="{38209EB8-2B3F-8C4F-9F64-A67FD5338C49}">
      <dgm:prSet/>
      <dgm:spPr/>
      <dgm:t>
        <a:bodyPr/>
        <a:lstStyle/>
        <a:p>
          <a:endParaRPr lang="en-GB"/>
        </a:p>
      </dgm:t>
    </dgm:pt>
    <dgm:pt modelId="{CBD9D9A0-2E9C-A442-8680-C42A6BEAA63C}" type="sibTrans" cxnId="{38209EB8-2B3F-8C4F-9F64-A67FD5338C49}">
      <dgm:prSet/>
      <dgm:spPr/>
      <dgm:t>
        <a:bodyPr/>
        <a:lstStyle/>
        <a:p>
          <a:endParaRPr lang="en-GB"/>
        </a:p>
      </dgm:t>
    </dgm:pt>
    <dgm:pt modelId="{903D2295-A236-404C-A3F4-9B7D173C4C82}">
      <dgm:prSet/>
      <dgm:spPr/>
      <dgm:t>
        <a:bodyPr/>
        <a:lstStyle/>
        <a:p>
          <a:r>
            <a:rPr lang="en-US" dirty="0"/>
            <a:t>Assess performance of this model when varying rolling window size</a:t>
          </a:r>
          <a:endParaRPr lang="en-GB" dirty="0"/>
        </a:p>
      </dgm:t>
    </dgm:pt>
    <dgm:pt modelId="{2FCBC593-338C-C745-9F34-FBFAC86CDE0F}" type="parTrans" cxnId="{591369E9-066A-7D4E-91A1-8AB2C411F09C}">
      <dgm:prSet/>
      <dgm:spPr/>
      <dgm:t>
        <a:bodyPr/>
        <a:lstStyle/>
        <a:p>
          <a:endParaRPr lang="en-GB"/>
        </a:p>
      </dgm:t>
    </dgm:pt>
    <dgm:pt modelId="{D8CBE6D3-C303-C24D-AC87-C628ED6378DE}" type="sibTrans" cxnId="{591369E9-066A-7D4E-91A1-8AB2C411F09C}">
      <dgm:prSet/>
      <dgm:spPr/>
      <dgm:t>
        <a:bodyPr/>
        <a:lstStyle/>
        <a:p>
          <a:endParaRPr lang="en-GB"/>
        </a:p>
      </dgm:t>
    </dgm:pt>
    <dgm:pt modelId="{74C608F9-1851-B746-A956-40A3275F25B0}">
      <dgm:prSet/>
      <dgm:spPr/>
      <dgm:t>
        <a:bodyPr/>
        <a:lstStyle/>
        <a:p>
          <a:r>
            <a:rPr lang="en-GB" dirty="0"/>
            <a:t>Evaluate the performance of various LSTM architectures</a:t>
          </a:r>
        </a:p>
      </dgm:t>
    </dgm:pt>
    <dgm:pt modelId="{BB6D64A2-2909-FB49-98F2-A4C6CBDB02BF}" type="parTrans" cxnId="{8E99C2E1-F727-854E-9FBA-CFF77114DC85}">
      <dgm:prSet/>
      <dgm:spPr/>
      <dgm:t>
        <a:bodyPr/>
        <a:lstStyle/>
        <a:p>
          <a:endParaRPr lang="en-GB"/>
        </a:p>
      </dgm:t>
    </dgm:pt>
    <dgm:pt modelId="{296D668F-B2E3-D748-9B7A-2549D844DA6E}" type="sibTrans" cxnId="{8E99C2E1-F727-854E-9FBA-CFF77114DC85}">
      <dgm:prSet/>
      <dgm:spPr/>
      <dgm:t>
        <a:bodyPr/>
        <a:lstStyle/>
        <a:p>
          <a:endParaRPr lang="en-GB"/>
        </a:p>
      </dgm:t>
    </dgm:pt>
    <dgm:pt modelId="{809DEE16-6E14-2C42-8AD2-72FC903C3741}">
      <dgm:prSet/>
      <dgm:spPr/>
      <dgm:t>
        <a:bodyPr/>
        <a:lstStyle/>
        <a:p>
          <a:r>
            <a:rPr lang="en-US" dirty="0"/>
            <a:t>Integrate additional explanatory variables and evaluate their significance</a:t>
          </a:r>
          <a:endParaRPr lang="en-GB" dirty="0"/>
        </a:p>
      </dgm:t>
    </dgm:pt>
    <dgm:pt modelId="{AE40B674-EC85-2544-9011-39F26EF4A29F}" type="sibTrans" cxnId="{8C5A3D0B-3DD9-564F-A547-2A75B2BB86E5}">
      <dgm:prSet/>
      <dgm:spPr/>
      <dgm:t>
        <a:bodyPr/>
        <a:lstStyle/>
        <a:p>
          <a:endParaRPr lang="en-GB"/>
        </a:p>
      </dgm:t>
    </dgm:pt>
    <dgm:pt modelId="{0418C0C8-323E-1842-9CFC-C8D1435358D5}" type="parTrans" cxnId="{8C5A3D0B-3DD9-564F-A547-2A75B2BB86E5}">
      <dgm:prSet/>
      <dgm:spPr/>
      <dgm:t>
        <a:bodyPr/>
        <a:lstStyle/>
        <a:p>
          <a:endParaRPr lang="en-GB"/>
        </a:p>
      </dgm:t>
    </dgm:pt>
    <dgm:pt modelId="{11F22DFA-CBCB-9D43-B637-C5E7D4911590}" type="pres">
      <dgm:prSet presAssocID="{C4612A8F-5497-F34F-9DBD-FFB9628635C9}" presName="CompostProcess" presStyleCnt="0">
        <dgm:presLayoutVars>
          <dgm:dir/>
          <dgm:resizeHandles val="exact"/>
        </dgm:presLayoutVars>
      </dgm:prSet>
      <dgm:spPr/>
    </dgm:pt>
    <dgm:pt modelId="{01A2C7CC-AE23-7D45-B136-E3B1F6CB750D}" type="pres">
      <dgm:prSet presAssocID="{C4612A8F-5497-F34F-9DBD-FFB9628635C9}" presName="arrow" presStyleLbl="bgShp" presStyleIdx="0" presStyleCnt="1"/>
      <dgm:spPr/>
    </dgm:pt>
    <dgm:pt modelId="{B8AC1BA5-A287-DE4A-909C-2CC2A32C862F}" type="pres">
      <dgm:prSet presAssocID="{C4612A8F-5497-F34F-9DBD-FFB9628635C9}" presName="linearProcess" presStyleCnt="0"/>
      <dgm:spPr/>
    </dgm:pt>
    <dgm:pt modelId="{E9F9FBE4-329F-B646-8B72-96ADDFEE88DA}" type="pres">
      <dgm:prSet presAssocID="{F335358A-E72F-C24C-9AE9-5B64183790D2}" presName="textNode" presStyleLbl="node1" presStyleIdx="0" presStyleCnt="4">
        <dgm:presLayoutVars>
          <dgm:bulletEnabled val="1"/>
        </dgm:presLayoutVars>
      </dgm:prSet>
      <dgm:spPr/>
    </dgm:pt>
    <dgm:pt modelId="{60E75521-B93A-BE41-BE3D-BFC494CAEEAD}" type="pres">
      <dgm:prSet presAssocID="{CBD9D9A0-2E9C-A442-8680-C42A6BEAA63C}" presName="sibTrans" presStyleCnt="0"/>
      <dgm:spPr/>
    </dgm:pt>
    <dgm:pt modelId="{6BD42C34-6738-1B4C-897F-329779F6821D}" type="pres">
      <dgm:prSet presAssocID="{74C608F9-1851-B746-A956-40A3275F25B0}" presName="textNode" presStyleLbl="node1" presStyleIdx="1" presStyleCnt="4">
        <dgm:presLayoutVars>
          <dgm:bulletEnabled val="1"/>
        </dgm:presLayoutVars>
      </dgm:prSet>
      <dgm:spPr/>
    </dgm:pt>
    <dgm:pt modelId="{1728077F-0C04-F641-BF97-016EB7EF97EB}" type="pres">
      <dgm:prSet presAssocID="{296D668F-B2E3-D748-9B7A-2549D844DA6E}" presName="sibTrans" presStyleCnt="0"/>
      <dgm:spPr/>
    </dgm:pt>
    <dgm:pt modelId="{28EFC0DC-272A-DC44-B647-61FDCD984969}" type="pres">
      <dgm:prSet presAssocID="{903D2295-A236-404C-A3F4-9B7D173C4C82}" presName="textNode" presStyleLbl="node1" presStyleIdx="2" presStyleCnt="4">
        <dgm:presLayoutVars>
          <dgm:bulletEnabled val="1"/>
        </dgm:presLayoutVars>
      </dgm:prSet>
      <dgm:spPr/>
    </dgm:pt>
    <dgm:pt modelId="{ABA4BBC3-CC43-E34F-B7B6-66FB4A3451A9}" type="pres">
      <dgm:prSet presAssocID="{D8CBE6D3-C303-C24D-AC87-C628ED6378DE}" presName="sibTrans" presStyleCnt="0"/>
      <dgm:spPr/>
    </dgm:pt>
    <dgm:pt modelId="{AA4D7C42-7AC3-454A-B3FB-2F8560F8D9E8}" type="pres">
      <dgm:prSet presAssocID="{809DEE16-6E14-2C42-8AD2-72FC903C3741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8C5A3D0B-3DD9-564F-A547-2A75B2BB86E5}" srcId="{C4612A8F-5497-F34F-9DBD-FFB9628635C9}" destId="{809DEE16-6E14-2C42-8AD2-72FC903C3741}" srcOrd="3" destOrd="0" parTransId="{0418C0C8-323E-1842-9CFC-C8D1435358D5}" sibTransId="{AE40B674-EC85-2544-9011-39F26EF4A29F}"/>
    <dgm:cxn modelId="{FDA76B5F-6237-5142-BEA1-5159D91FD74F}" type="presOf" srcId="{903D2295-A236-404C-A3F4-9B7D173C4C82}" destId="{28EFC0DC-272A-DC44-B647-61FDCD984969}" srcOrd="0" destOrd="0" presId="urn:microsoft.com/office/officeart/2005/8/layout/hProcess9"/>
    <dgm:cxn modelId="{E63C41A1-ED44-C94F-9CA1-903DF068993E}" type="presOf" srcId="{809DEE16-6E14-2C42-8AD2-72FC903C3741}" destId="{AA4D7C42-7AC3-454A-B3FB-2F8560F8D9E8}" srcOrd="0" destOrd="0" presId="urn:microsoft.com/office/officeart/2005/8/layout/hProcess9"/>
    <dgm:cxn modelId="{38209EB8-2B3F-8C4F-9F64-A67FD5338C49}" srcId="{C4612A8F-5497-F34F-9DBD-FFB9628635C9}" destId="{F335358A-E72F-C24C-9AE9-5B64183790D2}" srcOrd="0" destOrd="0" parTransId="{A81BBFE2-9573-FF45-8431-9F4EAF880C1D}" sibTransId="{CBD9D9A0-2E9C-A442-8680-C42A6BEAA63C}"/>
    <dgm:cxn modelId="{8E99C2E1-F727-854E-9FBA-CFF77114DC85}" srcId="{C4612A8F-5497-F34F-9DBD-FFB9628635C9}" destId="{74C608F9-1851-B746-A956-40A3275F25B0}" srcOrd="1" destOrd="0" parTransId="{BB6D64A2-2909-FB49-98F2-A4C6CBDB02BF}" sibTransId="{296D668F-B2E3-D748-9B7A-2549D844DA6E}"/>
    <dgm:cxn modelId="{591369E9-066A-7D4E-91A1-8AB2C411F09C}" srcId="{C4612A8F-5497-F34F-9DBD-FFB9628635C9}" destId="{903D2295-A236-404C-A3F4-9B7D173C4C82}" srcOrd="2" destOrd="0" parTransId="{2FCBC593-338C-C745-9F34-FBFAC86CDE0F}" sibTransId="{D8CBE6D3-C303-C24D-AC87-C628ED6378DE}"/>
    <dgm:cxn modelId="{9B3E4AEE-21E3-374C-825B-DE489E7CE1A5}" type="presOf" srcId="{74C608F9-1851-B746-A956-40A3275F25B0}" destId="{6BD42C34-6738-1B4C-897F-329779F6821D}" srcOrd="0" destOrd="0" presId="urn:microsoft.com/office/officeart/2005/8/layout/hProcess9"/>
    <dgm:cxn modelId="{764C18F7-9D62-5047-A741-3CF5F373F0F8}" type="presOf" srcId="{F335358A-E72F-C24C-9AE9-5B64183790D2}" destId="{E9F9FBE4-329F-B646-8B72-96ADDFEE88DA}" srcOrd="0" destOrd="0" presId="urn:microsoft.com/office/officeart/2005/8/layout/hProcess9"/>
    <dgm:cxn modelId="{0E9603FF-2051-FC45-9C33-B4923E77766F}" type="presOf" srcId="{C4612A8F-5497-F34F-9DBD-FFB9628635C9}" destId="{11F22DFA-CBCB-9D43-B637-C5E7D4911590}" srcOrd="0" destOrd="0" presId="urn:microsoft.com/office/officeart/2005/8/layout/hProcess9"/>
    <dgm:cxn modelId="{E0EBD2E7-4EB9-4D4A-B42D-0F747D3EC7FB}" type="presParOf" srcId="{11F22DFA-CBCB-9D43-B637-C5E7D4911590}" destId="{01A2C7CC-AE23-7D45-B136-E3B1F6CB750D}" srcOrd="0" destOrd="0" presId="urn:microsoft.com/office/officeart/2005/8/layout/hProcess9"/>
    <dgm:cxn modelId="{24015175-6C41-6047-9875-DC7FEFA4DB56}" type="presParOf" srcId="{11F22DFA-CBCB-9D43-B637-C5E7D4911590}" destId="{B8AC1BA5-A287-DE4A-909C-2CC2A32C862F}" srcOrd="1" destOrd="0" presId="urn:microsoft.com/office/officeart/2005/8/layout/hProcess9"/>
    <dgm:cxn modelId="{44BE6C1C-FB65-A545-ADD2-64452C819203}" type="presParOf" srcId="{B8AC1BA5-A287-DE4A-909C-2CC2A32C862F}" destId="{E9F9FBE4-329F-B646-8B72-96ADDFEE88DA}" srcOrd="0" destOrd="0" presId="urn:microsoft.com/office/officeart/2005/8/layout/hProcess9"/>
    <dgm:cxn modelId="{77440F66-F7D3-EF4A-9092-B535A668B130}" type="presParOf" srcId="{B8AC1BA5-A287-DE4A-909C-2CC2A32C862F}" destId="{60E75521-B93A-BE41-BE3D-BFC494CAEEAD}" srcOrd="1" destOrd="0" presId="urn:microsoft.com/office/officeart/2005/8/layout/hProcess9"/>
    <dgm:cxn modelId="{79388C43-8ADC-F94D-8F9F-9533C9096992}" type="presParOf" srcId="{B8AC1BA5-A287-DE4A-909C-2CC2A32C862F}" destId="{6BD42C34-6738-1B4C-897F-329779F6821D}" srcOrd="2" destOrd="0" presId="urn:microsoft.com/office/officeart/2005/8/layout/hProcess9"/>
    <dgm:cxn modelId="{02594941-C8B9-BC49-BEB0-65A37F9DA315}" type="presParOf" srcId="{B8AC1BA5-A287-DE4A-909C-2CC2A32C862F}" destId="{1728077F-0C04-F641-BF97-016EB7EF97EB}" srcOrd="3" destOrd="0" presId="urn:microsoft.com/office/officeart/2005/8/layout/hProcess9"/>
    <dgm:cxn modelId="{FC9DDE75-1D0E-584D-9761-5FA40E3FEC46}" type="presParOf" srcId="{B8AC1BA5-A287-DE4A-909C-2CC2A32C862F}" destId="{28EFC0DC-272A-DC44-B647-61FDCD984969}" srcOrd="4" destOrd="0" presId="urn:microsoft.com/office/officeart/2005/8/layout/hProcess9"/>
    <dgm:cxn modelId="{2FAFECAD-D8B4-4444-BABB-B67937EDFA3B}" type="presParOf" srcId="{B8AC1BA5-A287-DE4A-909C-2CC2A32C862F}" destId="{ABA4BBC3-CC43-E34F-B7B6-66FB4A3451A9}" srcOrd="5" destOrd="0" presId="urn:microsoft.com/office/officeart/2005/8/layout/hProcess9"/>
    <dgm:cxn modelId="{77815311-E1DC-A847-B76D-E6C72C6FFCD3}" type="presParOf" srcId="{B8AC1BA5-A287-DE4A-909C-2CC2A32C862F}" destId="{AA4D7C42-7AC3-454A-B3FB-2F8560F8D9E8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5E0752-3299-5149-B2CB-3D3D7B63F029}">
      <dsp:nvSpPr>
        <dsp:cNvPr id="0" name=""/>
        <dsp:cNvSpPr/>
      </dsp:nvSpPr>
      <dsp:spPr>
        <a:xfrm rot="5400000">
          <a:off x="-158222" y="159289"/>
          <a:ext cx="1054815" cy="73837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1980s </a:t>
          </a:r>
        </a:p>
      </dsp:txBody>
      <dsp:txXfrm rot="-5400000">
        <a:off x="1" y="370251"/>
        <a:ext cx="738370" cy="316445"/>
      </dsp:txXfrm>
    </dsp:sp>
    <dsp:sp modelId="{E0787753-D162-644A-BCD7-1CDF25CF6D2C}">
      <dsp:nvSpPr>
        <dsp:cNvPr id="0" name=""/>
        <dsp:cNvSpPr/>
      </dsp:nvSpPr>
      <dsp:spPr>
        <a:xfrm rot="5400000">
          <a:off x="4789959" y="-4050521"/>
          <a:ext cx="685630" cy="8788807"/>
        </a:xfrm>
        <a:prstGeom prst="round2Same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ARCH model introduced 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GARCH and various GARCH extensions introduced </a:t>
          </a:r>
        </a:p>
      </dsp:txBody>
      <dsp:txXfrm rot="-5400000">
        <a:off x="738371" y="34537"/>
        <a:ext cx="8755337" cy="618690"/>
      </dsp:txXfrm>
    </dsp:sp>
    <dsp:sp modelId="{59095B29-F352-A44F-BEA6-0CA748FFA7DC}">
      <dsp:nvSpPr>
        <dsp:cNvPr id="0" name=""/>
        <dsp:cNvSpPr/>
      </dsp:nvSpPr>
      <dsp:spPr>
        <a:xfrm rot="5400000">
          <a:off x="-158222" y="1096532"/>
          <a:ext cx="1054815" cy="73837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1990s</a:t>
          </a:r>
        </a:p>
      </dsp:txBody>
      <dsp:txXfrm rot="-5400000">
        <a:off x="1" y="1307494"/>
        <a:ext cx="738370" cy="316445"/>
      </dsp:txXfrm>
    </dsp:sp>
    <dsp:sp modelId="{97D78A36-C706-C44E-A092-954FEA3BF857}">
      <dsp:nvSpPr>
        <dsp:cNvPr id="0" name=""/>
        <dsp:cNvSpPr/>
      </dsp:nvSpPr>
      <dsp:spPr>
        <a:xfrm rot="5400000">
          <a:off x="4789959" y="-3113278"/>
          <a:ext cx="685630" cy="8788807"/>
        </a:xfrm>
        <a:prstGeom prst="round2Same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Research into the use of neural networks for volatility forecasting 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Studies showed improved performance over GARCH</a:t>
          </a:r>
        </a:p>
      </dsp:txBody>
      <dsp:txXfrm rot="-5400000">
        <a:off x="738371" y="971780"/>
        <a:ext cx="8755337" cy="618690"/>
      </dsp:txXfrm>
    </dsp:sp>
    <dsp:sp modelId="{EC1CDA53-2E9E-2A4A-9B5A-F0EFC28C5CC3}">
      <dsp:nvSpPr>
        <dsp:cNvPr id="0" name=""/>
        <dsp:cNvSpPr/>
      </dsp:nvSpPr>
      <dsp:spPr>
        <a:xfrm rot="5400000">
          <a:off x="-158222" y="2033775"/>
          <a:ext cx="1054815" cy="73837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2000s</a:t>
          </a:r>
        </a:p>
      </dsp:txBody>
      <dsp:txXfrm rot="-5400000">
        <a:off x="1" y="2244737"/>
        <a:ext cx="738370" cy="316445"/>
      </dsp:txXfrm>
    </dsp:sp>
    <dsp:sp modelId="{FBE69933-1E52-E443-99D4-73BE8E273929}">
      <dsp:nvSpPr>
        <dsp:cNvPr id="0" name=""/>
        <dsp:cNvSpPr/>
      </dsp:nvSpPr>
      <dsp:spPr>
        <a:xfrm rot="5400000">
          <a:off x="4789959" y="-2176035"/>
          <a:ext cx="685630" cy="8788807"/>
        </a:xfrm>
        <a:prstGeom prst="round2Same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GARCH models combined with artificial neural networks shown to outperform standalone model.</a:t>
          </a:r>
        </a:p>
      </dsp:txBody>
      <dsp:txXfrm rot="-5400000">
        <a:off x="738371" y="1909023"/>
        <a:ext cx="8755337" cy="618690"/>
      </dsp:txXfrm>
    </dsp:sp>
    <dsp:sp modelId="{043644E8-7596-D048-B2F1-B831B254C603}">
      <dsp:nvSpPr>
        <dsp:cNvPr id="0" name=""/>
        <dsp:cNvSpPr/>
      </dsp:nvSpPr>
      <dsp:spPr>
        <a:xfrm rot="5400000">
          <a:off x="-158222" y="2971018"/>
          <a:ext cx="1054815" cy="73837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2010s</a:t>
          </a:r>
        </a:p>
      </dsp:txBody>
      <dsp:txXfrm rot="-5400000">
        <a:off x="1" y="3181980"/>
        <a:ext cx="738370" cy="316445"/>
      </dsp:txXfrm>
    </dsp:sp>
    <dsp:sp modelId="{247468C4-08D6-9348-B364-990C3E237CD0}">
      <dsp:nvSpPr>
        <dsp:cNvPr id="0" name=""/>
        <dsp:cNvSpPr/>
      </dsp:nvSpPr>
      <dsp:spPr>
        <a:xfrm rot="5400000">
          <a:off x="4789959" y="-1238792"/>
          <a:ext cx="685630" cy="8788807"/>
        </a:xfrm>
        <a:prstGeom prst="round2Same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LSTMs shown to outperform feed-forward neural network</a:t>
          </a:r>
        </a:p>
      </dsp:txBody>
      <dsp:txXfrm rot="-5400000">
        <a:off x="738371" y="2846266"/>
        <a:ext cx="8755337" cy="618690"/>
      </dsp:txXfrm>
    </dsp:sp>
    <dsp:sp modelId="{9E185C3E-4857-6841-9728-2FAE41CD65FF}">
      <dsp:nvSpPr>
        <dsp:cNvPr id="0" name=""/>
        <dsp:cNvSpPr/>
      </dsp:nvSpPr>
      <dsp:spPr>
        <a:xfrm rot="5400000">
          <a:off x="-158222" y="3908261"/>
          <a:ext cx="1054815" cy="73837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2018-Present</a:t>
          </a:r>
        </a:p>
      </dsp:txBody>
      <dsp:txXfrm rot="-5400000">
        <a:off x="1" y="4119223"/>
        <a:ext cx="738370" cy="316445"/>
      </dsp:txXfrm>
    </dsp:sp>
    <dsp:sp modelId="{DFE54FC9-7AB1-1445-A039-652583EC7AB0}">
      <dsp:nvSpPr>
        <dsp:cNvPr id="0" name=""/>
        <dsp:cNvSpPr/>
      </dsp:nvSpPr>
      <dsp:spPr>
        <a:xfrm rot="5400000">
          <a:off x="4789959" y="-301549"/>
          <a:ext cx="685630" cy="8788807"/>
        </a:xfrm>
        <a:prstGeom prst="round2Same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Evidence showing GARCH-LSTMs outperform standalone models for volatility forecasting</a:t>
          </a:r>
        </a:p>
      </dsp:txBody>
      <dsp:txXfrm rot="-5400000">
        <a:off x="738371" y="3783509"/>
        <a:ext cx="8755337" cy="6186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A39AE9-F9B2-D84D-987F-E6C5F7A7231E}">
      <dsp:nvSpPr>
        <dsp:cNvPr id="0" name=""/>
        <dsp:cNvSpPr/>
      </dsp:nvSpPr>
      <dsp:spPr>
        <a:xfrm>
          <a:off x="0" y="143379"/>
          <a:ext cx="10515600" cy="82133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Aim</a:t>
          </a:r>
          <a:r>
            <a:rPr lang="en-US" sz="3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:</a:t>
          </a:r>
          <a:endParaRPr lang="en-GB" sz="3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0094" y="183473"/>
        <a:ext cx="10435412" cy="741151"/>
      </dsp:txXfrm>
    </dsp:sp>
    <dsp:sp modelId="{83585146-FF04-C443-BD6A-1517A18176FD}">
      <dsp:nvSpPr>
        <dsp:cNvPr id="0" name=""/>
        <dsp:cNvSpPr/>
      </dsp:nvSpPr>
      <dsp:spPr>
        <a:xfrm>
          <a:off x="0" y="964719"/>
          <a:ext cx="10515600" cy="1155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45720" rIns="256032" bIns="4572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Evaluate the performance of GARCH, LSTM and a hybrid GARCH-LSTM model in forecasting the daily realized volatility of the S&amp;P 500.</a:t>
          </a:r>
          <a:endParaRPr lang="en-GB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964719"/>
        <a:ext cx="10515600" cy="1155060"/>
      </dsp:txXfrm>
    </dsp:sp>
    <dsp:sp modelId="{370B7246-A6CA-5B4E-A802-B4E4290DE25A}">
      <dsp:nvSpPr>
        <dsp:cNvPr id="0" name=""/>
        <dsp:cNvSpPr/>
      </dsp:nvSpPr>
      <dsp:spPr>
        <a:xfrm>
          <a:off x="0" y="2119779"/>
          <a:ext cx="10515600" cy="82133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Main Questions &amp; Contribution to Literature: </a:t>
          </a:r>
          <a:endParaRPr lang="en-GB" sz="3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0094" y="2159873"/>
        <a:ext cx="10435412" cy="741151"/>
      </dsp:txXfrm>
    </dsp:sp>
    <dsp:sp modelId="{37E7B31E-9906-2249-9035-4112F3D78684}">
      <dsp:nvSpPr>
        <dsp:cNvPr id="0" name=""/>
        <dsp:cNvSpPr/>
      </dsp:nvSpPr>
      <dsp:spPr>
        <a:xfrm>
          <a:off x="0" y="2941119"/>
          <a:ext cx="10515600" cy="1266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45720" rIns="256032" bIns="4572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Validate that a GARCH-LSTM can outperform standalone models.</a:t>
          </a:r>
          <a:endParaRPr lang="en-GB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Evaluate performance of model when given a larger lookback window (252 days).</a:t>
          </a:r>
          <a:endParaRPr lang="en-GB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2941119"/>
        <a:ext cx="10515600" cy="12668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A2C7CC-AE23-7D45-B136-E3B1F6CB750D}">
      <dsp:nvSpPr>
        <dsp:cNvPr id="0" name=""/>
        <dsp:cNvSpPr/>
      </dsp:nvSpPr>
      <dsp:spPr>
        <a:xfrm>
          <a:off x="788670" y="0"/>
          <a:ext cx="8938260" cy="4351338"/>
        </a:xfrm>
        <a:prstGeom prst="rightArrow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F9FBE4-329F-B646-8B72-96ADDFEE88DA}">
      <dsp:nvSpPr>
        <dsp:cNvPr id="0" name=""/>
        <dsp:cNvSpPr/>
      </dsp:nvSpPr>
      <dsp:spPr>
        <a:xfrm>
          <a:off x="5262" y="1305401"/>
          <a:ext cx="2531343" cy="174053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Build simple GARCH, LSTM, GARCH-LSTM models and evaluate performance. </a:t>
          </a:r>
          <a:endParaRPr lang="en-GB" sz="1900" kern="1200" dirty="0"/>
        </a:p>
      </dsp:txBody>
      <dsp:txXfrm>
        <a:off x="90228" y="1390367"/>
        <a:ext cx="2361411" cy="1570603"/>
      </dsp:txXfrm>
    </dsp:sp>
    <dsp:sp modelId="{6BD42C34-6738-1B4C-897F-329779F6821D}">
      <dsp:nvSpPr>
        <dsp:cNvPr id="0" name=""/>
        <dsp:cNvSpPr/>
      </dsp:nvSpPr>
      <dsp:spPr>
        <a:xfrm>
          <a:off x="2663173" y="1305401"/>
          <a:ext cx="2531343" cy="174053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Evaluate the performance of various LSTM architectures</a:t>
          </a:r>
        </a:p>
      </dsp:txBody>
      <dsp:txXfrm>
        <a:off x="2748139" y="1390367"/>
        <a:ext cx="2361411" cy="1570603"/>
      </dsp:txXfrm>
    </dsp:sp>
    <dsp:sp modelId="{28EFC0DC-272A-DC44-B647-61FDCD984969}">
      <dsp:nvSpPr>
        <dsp:cNvPr id="0" name=""/>
        <dsp:cNvSpPr/>
      </dsp:nvSpPr>
      <dsp:spPr>
        <a:xfrm>
          <a:off x="5321083" y="1305401"/>
          <a:ext cx="2531343" cy="174053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Assess performance of this model when varying rolling window size</a:t>
          </a:r>
          <a:endParaRPr lang="en-GB" sz="1900" kern="1200" dirty="0"/>
        </a:p>
      </dsp:txBody>
      <dsp:txXfrm>
        <a:off x="5406049" y="1390367"/>
        <a:ext cx="2361411" cy="1570603"/>
      </dsp:txXfrm>
    </dsp:sp>
    <dsp:sp modelId="{AA4D7C42-7AC3-454A-B3FB-2F8560F8D9E8}">
      <dsp:nvSpPr>
        <dsp:cNvPr id="0" name=""/>
        <dsp:cNvSpPr/>
      </dsp:nvSpPr>
      <dsp:spPr>
        <a:xfrm>
          <a:off x="7978993" y="1305401"/>
          <a:ext cx="2531343" cy="174053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Integrate additional explanatory variables and evaluate their significance</a:t>
          </a:r>
          <a:endParaRPr lang="en-GB" sz="1900" kern="1200" dirty="0"/>
        </a:p>
      </dsp:txBody>
      <dsp:txXfrm>
        <a:off x="8063959" y="1390367"/>
        <a:ext cx="2361411" cy="15706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C4FC8B-D5AE-4540-AC5F-DF691F5D346A}" type="datetimeFigureOut">
              <a:rPr lang="en-US" smtClean="0"/>
              <a:t>5/19/25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17B375-E722-504A-9361-4F8A9AB19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038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7B375-E722-504A-9361-4F8A9AB190F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4459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7B375-E722-504A-9361-4F8A9AB190F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0500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Risk management – high volatility, move to lower vol assets </a:t>
            </a:r>
          </a:p>
          <a:p>
            <a:r>
              <a:rPr lang="en-US" dirty="0"/>
              <a:t>Option pricing – volatility is a key component in pricing of options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7B375-E722-504A-9361-4F8A9AB190F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8357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7B375-E722-504A-9361-4F8A9AB190F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1144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Composition of f, each f has this form (at a basic level)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7B375-E722-504A-9361-4F8A9AB190F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7112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7B375-E722-504A-9361-4F8A9AB190F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811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7B375-E722-504A-9361-4F8A9AB190F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5384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7B375-E722-504A-9361-4F8A9AB190F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878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4F26A-D681-6C99-0045-EF02C42F18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47B5D9-AAD0-3E93-8C29-FF6D8D6D8C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D19081-C6A5-9AF6-A799-B9C598F5D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B36D6-D42A-0740-8883-4ECD0B8FA76E}" type="datetimeFigureOut">
              <a:rPr lang="en-US" smtClean="0"/>
              <a:t>5/19/25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E32EB9-1ECD-88B3-C345-0CC786C1D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66FAC-8A69-C592-6745-F602F579D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B6C3E-3BC5-CB41-9B42-F723AA4482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102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970CB-90E1-FAE0-FBFC-8AFD782E8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A19B3-DC39-4DA3-F3EB-984CE4C10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B1275-0877-FDBD-3C39-176CE55CB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B36D6-D42A-0740-8883-4ECD0B8FA76E}" type="datetimeFigureOut">
              <a:rPr lang="en-US" smtClean="0"/>
              <a:t>5/19/25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FC18D3-EFCD-059D-6C31-58C4EC7A9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B3F6B-3059-6631-8B4B-3D0E1703D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B6C3E-3BC5-CB41-9B42-F723AA4482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229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8247F-7785-37CF-0836-BAAC383BD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2D1F0A-638B-3A3A-7B88-36DC7486AB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253C5D-9915-4CAE-F13D-33A235574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B36D6-D42A-0740-8883-4ECD0B8FA76E}" type="datetimeFigureOut">
              <a:rPr lang="en-US" smtClean="0"/>
              <a:t>5/19/25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962F56-CC39-9C7C-E48C-E7153040E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636E10-D499-7D27-5C65-941C6BC07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B6C3E-3BC5-CB41-9B42-F723AA4482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499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4E0E6-0930-D3AA-F382-1957964A9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C6AB1-21B5-1037-4729-2E2C5EAA31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FBDF5F-D061-53DE-0830-49A940F85D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A99429-D37A-D1BC-2DF7-8D0819D19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B36D6-D42A-0740-8883-4ECD0B8FA76E}" type="datetimeFigureOut">
              <a:rPr lang="en-US" smtClean="0"/>
              <a:t>5/19/25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7F56FA-681D-48E8-3D8A-119A68530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B2FF24-8193-C14B-33FE-41BC01E33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B6C3E-3BC5-CB41-9B42-F723AA4482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264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EF940-E248-50F2-CF61-E3FBFDF95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8807FE-11B4-10E7-FC8F-73A19DD40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0CC2F5-13B4-222D-3E82-3F97CF7E60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79D35-1554-878C-FBD2-3FD86E013D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8655E2-5C9D-605A-E381-410FA5F7A3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492551-2D93-BB96-20E6-E82FC8BDB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B36D6-D42A-0740-8883-4ECD0B8FA76E}" type="datetimeFigureOut">
              <a:rPr lang="en-US" smtClean="0"/>
              <a:t>5/19/25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3B0508-8242-6EC7-DBC8-A6CD29F61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244E92-CB79-396B-7ABA-5547C585E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B6C3E-3BC5-CB41-9B42-F723AA4482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103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EC6D2-FC53-0BA5-829B-C7207DBF4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90253E-0EA8-060B-7DCF-AE5F4219C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B36D6-D42A-0740-8883-4ECD0B8FA76E}" type="datetimeFigureOut">
              <a:rPr lang="en-US" smtClean="0"/>
              <a:t>5/19/25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241000-05CA-EE55-B8A4-357200B49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F6FC59-07BF-4174-158E-318D78DA1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B6C3E-3BC5-CB41-9B42-F723AA4482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368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7690F4-FA9B-9FC6-2E9C-2A99436B9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B36D6-D42A-0740-8883-4ECD0B8FA76E}" type="datetimeFigureOut">
              <a:rPr lang="en-US" smtClean="0"/>
              <a:t>5/19/25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A7B0C2-F4F7-426C-017C-E52B497BA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30E6C7-C32F-3EE7-70C4-B616A6424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B6C3E-3BC5-CB41-9B42-F723AA4482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219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042F7-3723-D0A6-8F19-2E96B1EDB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C8747-A7C4-C79B-EC5E-83EA122DF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A08D87-1F7D-2A1C-5460-3F5044FE98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3E3EF9-DF32-4AB4-0D2C-75AEA8E01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B36D6-D42A-0740-8883-4ECD0B8FA76E}" type="datetimeFigureOut">
              <a:rPr lang="en-US" smtClean="0"/>
              <a:t>5/19/25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90F96E-4E9A-0927-BC2A-0ADECA109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316686-4161-A880-76D6-0E32D5595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B6C3E-3BC5-CB41-9B42-F723AA4482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408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2C68C-F60F-FBA7-7FEF-82929F7AA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0A7D58-1FAA-362F-62FC-4F1B90239D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55A01C-756F-DC04-1760-74CA05ABDE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FB1B23-CA46-A6DC-B08A-E51670410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B36D6-D42A-0740-8883-4ECD0B8FA76E}" type="datetimeFigureOut">
              <a:rPr lang="en-US" smtClean="0"/>
              <a:t>5/19/25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3AD0D8-CB9E-7ADE-A33B-60C6F35AE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C2645-39EA-01E4-98BB-8B80FC7D2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B6C3E-3BC5-CB41-9B42-F723AA4482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652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87141-375C-D109-2E5B-5A887960C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A9C026-3164-C602-BD05-BDB3B72BA8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A3C07F-F288-FC83-E4B2-8616F9762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B36D6-D42A-0740-8883-4ECD0B8FA76E}" type="datetimeFigureOut">
              <a:rPr lang="en-US" smtClean="0"/>
              <a:t>5/19/25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FB3B0A-BB35-744F-0105-081D1F66A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A6773D-0FFE-E7F6-D67F-D3DABDA81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B6C3E-3BC5-CB41-9B42-F723AA4482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402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7D75B3-57C7-9D85-75F0-C5045C8497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A25180-6716-2B82-3152-3369D5A565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420B62-47CE-52E4-85B1-2D389B3D0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B36D6-D42A-0740-8883-4ECD0B8FA76E}" type="datetimeFigureOut">
              <a:rPr lang="en-US" smtClean="0"/>
              <a:t>5/19/25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0F1D1-F30E-D46B-808D-31F5B3105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BAE3D-8527-111B-7070-F83477E8F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B6C3E-3BC5-CB41-9B42-F723AA4482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149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E3AA7F-1F77-028B-6CFD-B09673CA7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E1D0E0-3786-5CC5-C6FA-8812A9CA74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198C9-4894-48FB-BA63-495425CEEA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3B36D6-D42A-0740-8883-4ECD0B8FA76E}" type="datetimeFigureOut">
              <a:rPr lang="en-US" smtClean="0"/>
              <a:t>5/19/25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79CDA8-20EE-A929-E11B-3040EF19D6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8596A-650E-E0AE-9B3F-16C36BC2B6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4B6C3E-3BC5-CB41-9B42-F723AA4482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115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510BC-FBAD-2902-9C3A-26F41746A3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8763" y="1310101"/>
            <a:ext cx="11194473" cy="3222027"/>
          </a:xfrm>
        </p:spPr>
        <p:txBody>
          <a:bodyPr>
            <a:normAutofit fontScale="90000"/>
          </a:bodyPr>
          <a:lstStyle/>
          <a:p>
            <a:r>
              <a:rPr lang="en-US" dirty="0"/>
              <a:t>Forecasting the volatility of a stock market index; A hybrid approach integrating a GARCH model into various ANNs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1E4ECE-5AF9-738F-B817-02C192F3B9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532128"/>
            <a:ext cx="9144000" cy="47119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Elizabeth White</a:t>
            </a:r>
          </a:p>
        </p:txBody>
      </p:sp>
    </p:spTree>
    <p:extLst>
      <p:ext uri="{BB962C8B-B14F-4D97-AF65-F5344CB8AC3E}">
        <p14:creationId xmlns:p14="http://schemas.microsoft.com/office/powerpoint/2010/main" val="1372951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C30FD-729A-7648-DD32-139C7B078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 of My Interim 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0C083-56C4-823D-522B-0B85A0F85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971550" lvl="1" indent="-514350"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Volatility and the importance of volatility forecasting in finance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Theoretical Background: GARCH, Feed-Forward Neural Nets and LSTMs and hybrid models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 aim of this thesis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and Methodology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 of Results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 of Results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Improvements and Potential Future Work</a:t>
            </a:r>
          </a:p>
          <a:p>
            <a:pPr marL="514350" indent="-51435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246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62C61-4069-C53E-A3B3-FF9D5AF70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Volatility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8EACE0-F9CE-E45D-4D7C-A395EEE9D4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565564"/>
                <a:ext cx="11020426" cy="4476462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fluctuation of the price of an asset over time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Volatility is a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latent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variable, it is unobservable 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 such, volatility proxies are used to measure the volatility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One such proxy, is the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realized volatility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RV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/>
                      </m:rad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Daily realized volatility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can be expressed as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𝑅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8EACE0-F9CE-E45D-4D7C-A395EEE9D4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565564"/>
                <a:ext cx="11020426" cy="4476462"/>
              </a:xfrm>
              <a:blipFill>
                <a:blip r:embed="rId3"/>
                <a:stretch>
                  <a:fillRect l="-921" t="-22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2661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9EE10-DCB8-FDF8-AB24-56A402EFD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volatility forecasting important?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E0CBF-0A52-EE6C-D5EA-94085AC90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18766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Volatility forecasting in finance is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numerous reasons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involved in forecasting realized volatility: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cannot account for external market conditions.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must account for stylized facts about volatility; e.g.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volatility clustering</a:t>
            </a:r>
            <a:endParaRPr lang="en-US" dirty="0"/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AFB72F71-8339-5D33-38C7-46007CCD53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638954"/>
            <a:ext cx="5823801" cy="2537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DA92C22-128E-2B47-B478-F07D9DC0BA87}"/>
              </a:ext>
            </a:extLst>
          </p:cNvPr>
          <p:cNvCxnSpPr/>
          <p:nvPr/>
        </p:nvCxnSpPr>
        <p:spPr>
          <a:xfrm flipH="1">
            <a:off x="9165083" y="3774583"/>
            <a:ext cx="460979" cy="4534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70760A9-EED9-AFD7-B019-0B78D0106BA4}"/>
              </a:ext>
            </a:extLst>
          </p:cNvPr>
          <p:cNvSpPr txBox="1"/>
          <p:nvPr/>
        </p:nvSpPr>
        <p:spPr>
          <a:xfrm>
            <a:off x="9328471" y="3312918"/>
            <a:ext cx="16779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Periods of high volatility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12926E-3CF7-F2E6-9A4B-AA21E8AB8D88}"/>
              </a:ext>
            </a:extLst>
          </p:cNvPr>
          <p:cNvSpPr txBox="1"/>
          <p:nvPr/>
        </p:nvSpPr>
        <p:spPr>
          <a:xfrm>
            <a:off x="7129850" y="3580509"/>
            <a:ext cx="14938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Periods of low volatility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E91EE18-1FA1-003C-AF15-9FF4B5AACC4A}"/>
              </a:ext>
            </a:extLst>
          </p:cNvPr>
          <p:cNvCxnSpPr/>
          <p:nvPr/>
        </p:nvCxnSpPr>
        <p:spPr>
          <a:xfrm>
            <a:off x="7885014" y="4116582"/>
            <a:ext cx="181368" cy="5949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B408A2E-FAAE-0F1D-D06C-09681005428C}"/>
              </a:ext>
            </a:extLst>
          </p:cNvPr>
          <p:cNvSpPr txBox="1"/>
          <p:nvPr/>
        </p:nvSpPr>
        <p:spPr>
          <a:xfrm>
            <a:off x="6641507" y="5125962"/>
            <a:ext cx="50471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 Volatility clustering seen in the daily realized volatility of the S&amp;P 500</a:t>
            </a:r>
          </a:p>
        </p:txBody>
      </p:sp>
    </p:spTree>
    <p:extLst>
      <p:ext uri="{BB962C8B-B14F-4D97-AF65-F5344CB8AC3E}">
        <p14:creationId xmlns:p14="http://schemas.microsoft.com/office/powerpoint/2010/main" val="1228523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70ADC-C38D-4783-C8CC-872E58F20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Volatility Clustering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A4953C0-4211-CF87-5430-2495AEFFAC1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Volatility clustering implies that the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conditional variance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non-constant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endParaRPr lang="en-US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𝑉𝑎𝑟</m:t>
                      </m:r>
                      <m:d>
                        <m:dPr>
                          <m:endChr m:val="|"/>
                          <m:ctrlP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ℱ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ℱ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𝒕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information set available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a simple AR(1)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A4953C0-4211-CF87-5430-2495AEFFAC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445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8209B-540E-7DB9-9AD5-CF82EB77E11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E9DDE51D-C0B1-96F5-3337-0278D2C546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2834" y="1825625"/>
            <a:ext cx="5787892" cy="3740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0C41443-A7AB-10B3-582B-E75E41700E42}"/>
              </a:ext>
            </a:extLst>
          </p:cNvPr>
          <p:cNvSpPr txBox="1"/>
          <p:nvPr/>
        </p:nvSpPr>
        <p:spPr>
          <a:xfrm>
            <a:off x="7291080" y="1517848"/>
            <a:ext cx="43311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 Log return residuals when fitted of AR(1)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4C7F606-479B-71BA-E596-EE04F25593BE}"/>
                  </a:ext>
                </a:extLst>
              </p:cNvPr>
              <p:cNvSpPr txBox="1"/>
              <p:nvPr/>
            </p:nvSpPr>
            <p:spPr>
              <a:xfrm>
                <a:off x="838200" y="5575063"/>
                <a:ext cx="3133294" cy="9571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log returns series for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parameter of the model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𝐼𝐼𝐷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4C7F606-479B-71BA-E596-EE04F25593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575063"/>
                <a:ext cx="3133294" cy="957121"/>
              </a:xfrm>
              <a:prstGeom prst="rect">
                <a:avLst/>
              </a:prstGeom>
              <a:blipFill>
                <a:blip r:embed="rId4"/>
                <a:stretch>
                  <a:fillRect t="-3947"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87842B5-F9AF-2926-0C41-493AF4D94241}"/>
              </a:ext>
            </a:extLst>
          </p:cNvPr>
          <p:cNvCxnSpPr>
            <a:cxnSpLocks/>
            <a:endCxn id="6" idx="3"/>
          </p:cNvCxnSpPr>
          <p:nvPr/>
        </p:nvCxnSpPr>
        <p:spPr>
          <a:xfrm flipV="1">
            <a:off x="3829878" y="4001294"/>
            <a:ext cx="2189922" cy="5839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7672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7C2F6-79F5-1895-973E-474C6D9D2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ARCH(q) Model (Engle, 1982)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4B9C36-5B99-1C77-E228-4BBA5D5D00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ARCH aims to model the 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conditional variance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the log returns process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bSup>
                  </m:oMath>
                </a14:m>
                <a:endPara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1" indent="0"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conditional mean (zero, constant, AR model etc.)</a:t>
                </a: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ARCH model: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ℱ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𝒕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∼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𝑁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(0,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4B9C36-5B99-1C77-E228-4BBA5D5D00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44" t="-1744" b="-31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10352A-7B12-2C56-2DA2-71475BC36FF6}"/>
                  </a:ext>
                </a:extLst>
              </p:cNvPr>
              <p:cNvSpPr txBox="1"/>
              <p:nvPr/>
            </p:nvSpPr>
            <p:spPr>
              <a:xfrm>
                <a:off x="8258265" y="3621380"/>
                <a:ext cx="271780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∼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(0,1)</m:t>
                    </m:r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&gt;0 , 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≥0 </m:t>
                      </m:r>
                    </m:oMath>
                  </m:oMathPara>
                </a14:m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10352A-7B12-2C56-2DA2-71475BC36F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8265" y="3621380"/>
                <a:ext cx="2717800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2C70B12-49F6-6E65-7811-4A45F51E701F}"/>
              </a:ext>
            </a:extLst>
          </p:cNvPr>
          <p:cNvCxnSpPr>
            <a:cxnSpLocks/>
          </p:cNvCxnSpPr>
          <p:nvPr/>
        </p:nvCxnSpPr>
        <p:spPr>
          <a:xfrm>
            <a:off x="7566491" y="5335269"/>
            <a:ext cx="649710" cy="1381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04A87C9-3D26-791E-F375-75BEB6390373}"/>
                  </a:ext>
                </a:extLst>
              </p:cNvPr>
              <p:cNvSpPr txBox="1"/>
              <p:nvPr/>
            </p:nvSpPr>
            <p:spPr>
              <a:xfrm>
                <a:off x="8258265" y="5428931"/>
                <a:ext cx="345479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Lagged values of realized volatility from day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04A87C9-3D26-791E-F375-75BEB63903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8265" y="5428931"/>
                <a:ext cx="3454792" cy="646331"/>
              </a:xfrm>
              <a:prstGeom prst="rect">
                <a:avLst/>
              </a:prstGeom>
              <a:blipFill>
                <a:blip r:embed="rId5"/>
                <a:stretch>
                  <a:fillRect l="-1465" t="-3846" r="-2198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C2197C2-8730-FB50-804E-1DF08783BA58}"/>
                  </a:ext>
                </a:extLst>
              </p:cNvPr>
              <p:cNvSpPr txBox="1"/>
              <p:nvPr/>
            </p:nvSpPr>
            <p:spPr>
              <a:xfrm>
                <a:off x="1261291" y="5473441"/>
                <a:ext cx="29490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Conditional variance on day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C2197C2-8730-FB50-804E-1DF08783BA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1291" y="5473441"/>
                <a:ext cx="2949077" cy="369332"/>
              </a:xfrm>
              <a:prstGeom prst="rect">
                <a:avLst/>
              </a:prstGeom>
              <a:blipFill>
                <a:blip r:embed="rId6"/>
                <a:stretch>
                  <a:fillRect l="-1717" t="-10345" b="-27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C141073-9C49-5407-B77D-5E79FF146A58}"/>
              </a:ext>
            </a:extLst>
          </p:cNvPr>
          <p:cNvCxnSpPr>
            <a:cxnSpLocks/>
          </p:cNvCxnSpPr>
          <p:nvPr/>
        </p:nvCxnSpPr>
        <p:spPr>
          <a:xfrm flipH="1">
            <a:off x="3795227" y="5323917"/>
            <a:ext cx="830284" cy="1846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4257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7FF61-2668-42CA-F250-4B1FA7B35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GARCH(</a:t>
            </a:r>
            <a:r>
              <a:rPr lang="en-US" dirty="0" err="1"/>
              <a:t>p,q</a:t>
            </a:r>
            <a:r>
              <a:rPr lang="en-US" dirty="0"/>
              <a:t>) Model (</a:t>
            </a:r>
            <a:r>
              <a:rPr lang="en-US" dirty="0" err="1"/>
              <a:t>Bollerslev</a:t>
            </a:r>
            <a:r>
              <a:rPr lang="en-US" dirty="0"/>
              <a:t>, 1986)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406CA4-BE9F-5755-58B4-8D4C56992D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Often ARCH needs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lots of parameters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capture correlation in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generalized ARCH model, GARCH:</a:t>
                </a: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406CA4-BE9F-5755-58B4-8D4C56992D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 b="-72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6F8EF26-B2FA-72B7-6FBB-45678FF9CD71}"/>
              </a:ext>
            </a:extLst>
          </p:cNvPr>
          <p:cNvCxnSpPr/>
          <p:nvPr/>
        </p:nvCxnSpPr>
        <p:spPr>
          <a:xfrm>
            <a:off x="6094605" y="4169490"/>
            <a:ext cx="308008" cy="9336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6CBF7E2-AC40-3258-C677-8BE74652EFE4}"/>
                  </a:ext>
                </a:extLst>
              </p:cNvPr>
              <p:cNvSpPr txBox="1"/>
              <p:nvPr/>
            </p:nvSpPr>
            <p:spPr>
              <a:xfrm>
                <a:off x="5593255" y="5253633"/>
                <a:ext cx="2583338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Lagged values of realized volatility from day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6CBF7E2-AC40-3258-C677-8BE74652EF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3255" y="5253633"/>
                <a:ext cx="2583338" cy="923330"/>
              </a:xfrm>
              <a:prstGeom prst="rect">
                <a:avLst/>
              </a:prstGeom>
              <a:blipFill>
                <a:blip r:embed="rId3"/>
                <a:stretch>
                  <a:fillRect l="-1961" t="-2703" r="-2451" b="-9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085B3C3-FF3E-AA0E-AC8E-CDB5B59A9348}"/>
              </a:ext>
            </a:extLst>
          </p:cNvPr>
          <p:cNvCxnSpPr/>
          <p:nvPr/>
        </p:nvCxnSpPr>
        <p:spPr>
          <a:xfrm flipV="1">
            <a:off x="8503850" y="3387543"/>
            <a:ext cx="972152" cy="3561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63F987-9C2E-9D10-2DE9-76BF1033D604}"/>
                  </a:ext>
                </a:extLst>
              </p:cNvPr>
              <p:cNvSpPr txBox="1"/>
              <p:nvPr/>
            </p:nvSpPr>
            <p:spPr>
              <a:xfrm>
                <a:off x="9537234" y="2642280"/>
                <a:ext cx="265476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Lagged conditional variance forecasts from day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63F987-9C2E-9D10-2DE9-76BF1033D6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7234" y="2642280"/>
                <a:ext cx="2654766" cy="923330"/>
              </a:xfrm>
              <a:prstGeom prst="rect">
                <a:avLst/>
              </a:prstGeom>
              <a:blipFill>
                <a:blip r:embed="rId4"/>
                <a:stretch>
                  <a:fillRect l="-2381" t="-2703" b="-9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EE77FAE-B48C-BAF1-B6D0-D974F9AFDE6A}"/>
                  </a:ext>
                </a:extLst>
              </p:cNvPr>
              <p:cNvSpPr txBox="1"/>
              <p:nvPr/>
            </p:nvSpPr>
            <p:spPr>
              <a:xfrm>
                <a:off x="236073" y="4451649"/>
                <a:ext cx="29490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Conditional variance on day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EE77FAE-B48C-BAF1-B6D0-D974F9AFDE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073" y="4451649"/>
                <a:ext cx="2949077" cy="369332"/>
              </a:xfrm>
              <a:prstGeom prst="rect">
                <a:avLst/>
              </a:prstGeom>
              <a:blipFill>
                <a:blip r:embed="rId5"/>
                <a:stretch>
                  <a:fillRect l="-1717"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0D8CAF3-31E1-7620-1DFE-7D5070D586F1}"/>
              </a:ext>
            </a:extLst>
          </p:cNvPr>
          <p:cNvCxnSpPr>
            <a:cxnSpLocks/>
          </p:cNvCxnSpPr>
          <p:nvPr/>
        </p:nvCxnSpPr>
        <p:spPr>
          <a:xfrm flipH="1">
            <a:off x="2829894" y="4085389"/>
            <a:ext cx="710512" cy="2987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8671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738B2-4E0B-FE87-E5D1-397364B32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the GARCH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156A5-6B90-B9E0-154D-EF75393791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the GARCH Model: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Volatility is very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exogenous variables affecting volatility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Unable to capture asymmetric impacts (“leverage effect”)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correlation between returns and volatility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has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flexibility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may struggle to capture complex dynamics within data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0912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9B2A5-8E4C-1B5D-3F7A-65E6B387E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Networks; Main Idea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EADE8C-248D-1B8E-0A43-C1FEFF1219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8342" y="1466396"/>
                <a:ext cx="7025473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Goal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Approximate some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input variables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;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𝑾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𝒄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𝑾</m:t>
                            </m:r>
                          </m:e>
                          <m:sup>
                            <m:r>
                              <a:rPr lang="en-US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𝑻</m:t>
                            </m:r>
                          </m:sup>
                        </m:sSup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𝒄</m:t>
                        </m:r>
                      </m:e>
                    </m:d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=h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𝒉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;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𝐡</m:t>
                      </m:r>
                      <m:r>
                        <a:rPr lang="en-US" b="1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b</m:t>
                      </m:r>
                    </m:oMath>
                  </m:oMathPara>
                </a14:m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;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𝑾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𝒄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𝒘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𝑾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𝒄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≈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 non-linear function (“activation function”)</a:t>
                </a:r>
              </a:p>
              <a:p>
                <a:pPr marL="457200" lvl="1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1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EADE8C-248D-1B8E-0A43-C1FEFF1219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8342" y="1466396"/>
                <a:ext cx="7025473" cy="4351338"/>
              </a:xfrm>
              <a:blipFill>
                <a:blip r:embed="rId3"/>
                <a:stretch>
                  <a:fillRect l="-1805" t="-23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 descr="A black math equation with numbers and symbols&#10;&#10;Description automatically generated with medium confidence">
            <a:extLst>
              <a:ext uri="{FF2B5EF4-FFF2-40B4-BE49-F238E27FC236}">
                <a16:creationId xmlns:a16="http://schemas.microsoft.com/office/drawing/2014/main" id="{32BD4B03-1C6A-489E-15AD-2C70795732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1035" y="5349170"/>
            <a:ext cx="1511300" cy="825500"/>
          </a:xfrm>
          <a:prstGeom prst="rect">
            <a:avLst/>
          </a:prstGeom>
        </p:spPr>
      </p:pic>
      <p:pic>
        <p:nvPicPr>
          <p:cNvPr id="16" name="Picture 15" descr="A black and white math equation&#10;&#10;Description automatically generated with medium confidence">
            <a:extLst>
              <a:ext uri="{FF2B5EF4-FFF2-40B4-BE49-F238E27FC236}">
                <a16:creationId xmlns:a16="http://schemas.microsoft.com/office/drawing/2014/main" id="{550669C3-BEA6-1AE6-7BEB-A0C5212A4B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8297" y="5317052"/>
            <a:ext cx="17653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121F041-C46C-DE3E-80BA-55C94F9BD540}"/>
              </a:ext>
            </a:extLst>
          </p:cNvPr>
          <p:cNvSpPr txBox="1"/>
          <p:nvPr/>
        </p:nvSpPr>
        <p:spPr>
          <a:xfrm>
            <a:off x="8040280" y="5614212"/>
            <a:ext cx="3203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 Simple representation of feed-forward neural network with one hidden layer.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C1A35B6-29E7-7898-6DE4-E84C8E3DF2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4294" y="587175"/>
            <a:ext cx="2597953" cy="451223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EACA811-E0DA-C4E5-1A29-6460FA3CEE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106" y="5472627"/>
            <a:ext cx="2051050" cy="60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865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43FED-C50E-857B-FF68-F75318EF5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Long-Short Term Memory Models?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C43F0E-D956-812E-846B-344E93CE30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965294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LSTMs are a type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Recurrent Neural Network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RNN able to handle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LSTMs are better suited to handle long term dependencies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F32DD3-B29E-8A41-2A56-08ED5B933A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8607" y="1712885"/>
            <a:ext cx="6608794" cy="33405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1AD51FE-BAA6-293B-BF85-573B383C7A1E}"/>
              </a:ext>
            </a:extLst>
          </p:cNvPr>
          <p:cNvSpPr txBox="1"/>
          <p:nvPr/>
        </p:nvSpPr>
        <p:spPr>
          <a:xfrm>
            <a:off x="7388508" y="5268744"/>
            <a:ext cx="3147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 Representation of RNN </a:t>
            </a:r>
          </a:p>
        </p:txBody>
      </p:sp>
    </p:spTree>
    <p:extLst>
      <p:ext uri="{BB962C8B-B14F-4D97-AF65-F5344CB8AC3E}">
        <p14:creationId xmlns:p14="http://schemas.microsoft.com/office/powerpoint/2010/main" val="2075744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4F61D-9727-57C8-84AC-3B01B0D24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Literature</a:t>
            </a:r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4E8EC0FA-21CF-96C4-77E5-81A6A6FF3E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5337630"/>
              </p:ext>
            </p:extLst>
          </p:nvPr>
        </p:nvGraphicFramePr>
        <p:xfrm>
          <a:off x="914400" y="1576251"/>
          <a:ext cx="9527178" cy="48059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11786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4985F-9B1B-55AC-02DA-6B88D6568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Research Problem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680E86E-0EF8-AFFE-780C-B3540D162F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452184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878790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88BFB-4A8F-4584-178B-213853780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Dataset; Oxford Realized Library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0D6E8-C59F-B330-3EFE-F2C758441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11957" cy="4667249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Stock: S&amp;P 500 (SPX)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observations: 4641 days.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frame: 03/01/2001-27/06/2018.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 Daily Realized Volatility (5-min sampling frequency), Daily Close Price.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Engineering: Log Returns &amp; Log Returns Squared.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3D0E432-1D29-82A9-0120-8B5DEE2EF2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4956" y="1562579"/>
            <a:ext cx="4158422" cy="4149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ED36D8E-DB93-2716-AC43-52541CBC2437}"/>
              </a:ext>
            </a:extLst>
          </p:cNvPr>
          <p:cNvSpPr txBox="1"/>
          <p:nvPr/>
        </p:nvSpPr>
        <p:spPr>
          <a:xfrm>
            <a:off x="7354956" y="5712514"/>
            <a:ext cx="45408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 Closing prices and log returns of SPX from dataset</a:t>
            </a:r>
          </a:p>
        </p:txBody>
      </p:sp>
    </p:spTree>
    <p:extLst>
      <p:ext uri="{BB962C8B-B14F-4D97-AF65-F5344CB8AC3E}">
        <p14:creationId xmlns:p14="http://schemas.microsoft.com/office/powerpoint/2010/main" val="26293671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1513-6B72-9C8C-ABBB-84E734E22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Rolling lookback windows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9767AF-EC6D-2840-6A61-CF4B38476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027" y="1942200"/>
            <a:ext cx="7106386" cy="33987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4FD7780-7690-E0DA-8189-D2A4F3DA9196}"/>
              </a:ext>
            </a:extLst>
          </p:cNvPr>
          <p:cNvSpPr txBox="1"/>
          <p:nvPr/>
        </p:nvSpPr>
        <p:spPr>
          <a:xfrm>
            <a:off x="3024895" y="5487999"/>
            <a:ext cx="6440649" cy="541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 252-day rolling window used to estimate parameters for GARCH and train neural networks.</a:t>
            </a:r>
          </a:p>
        </p:txBody>
      </p:sp>
    </p:spTree>
    <p:extLst>
      <p:ext uri="{BB962C8B-B14F-4D97-AF65-F5344CB8AC3E}">
        <p14:creationId xmlns:p14="http://schemas.microsoft.com/office/powerpoint/2010/main" val="6234735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363A094-A86D-29D8-D460-07816C29C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Evaluating Performance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7F8F8E-E6CF-22C4-2D2F-569EF3BB92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In-Sample: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F78EF94-79FF-3DF5-A4BE-A6AD96B77DD7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GARCH: 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Information Criterion (AIC)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Standardized residual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diagnostics 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LSTMs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Training and validation loss </a:t>
                </a: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Evaluate performance on test data to choose preferred model for hybrid model.</a:t>
                </a:r>
              </a:p>
            </p:txBody>
          </p:sp>
        </mc:Choice>
        <mc:Fallback xmlns="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F78EF94-79FF-3DF5-A4BE-A6AD96B77D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211" t="-4811" r="-2211" b="-27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4A8B94-213E-633E-B3F8-7FAF6F4468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Out-of-sample: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B70046D-F4D8-8BE1-39C0-63598F738B5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Holdout 20% of data to test models 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daily forecasts of GARCH, LSTM and hybrid model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C91C480-09E2-E659-8E9D-2C19F6A881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3656371"/>
              </p:ext>
            </p:extLst>
          </p:nvPr>
        </p:nvGraphicFramePr>
        <p:xfrm>
          <a:off x="6436133" y="4189247"/>
          <a:ext cx="4655321" cy="1450635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487598">
                  <a:extLst>
                    <a:ext uri="{9D8B030D-6E8A-4147-A177-3AD203B41FA5}">
                      <a16:colId xmlns:a16="http://schemas.microsoft.com/office/drawing/2014/main" val="192014585"/>
                    </a:ext>
                  </a:extLst>
                </a:gridCol>
                <a:gridCol w="3167723">
                  <a:extLst>
                    <a:ext uri="{9D8B030D-6E8A-4147-A177-3AD203B41FA5}">
                      <a16:colId xmlns:a16="http://schemas.microsoft.com/office/drawing/2014/main" val="3034277300"/>
                    </a:ext>
                  </a:extLst>
                </a:gridCol>
              </a:tblGrid>
              <a:tr h="433639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Error 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Rationale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6815573"/>
                  </a:ext>
                </a:extLst>
              </a:tr>
              <a:tr h="433639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Quantifies errors.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5133423"/>
                  </a:ext>
                </a:extLst>
              </a:tr>
              <a:tr h="583357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more sensitive to outliers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1934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11361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5F3B3FD-0A00-D734-C90E-75F850E7B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GARCH Model: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352ED3-31D5-EDD1-970B-CB4C47838D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29" y="3057801"/>
            <a:ext cx="11454141" cy="742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7223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6B9A8B5-D4A0-09E3-AAE5-8CABAFA32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 GARCH-LSTM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4C3F48-DECC-4E12-4D0F-DE8ADF4A3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6026" y="1690688"/>
            <a:ext cx="3999948" cy="4199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9852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795B4-7C6E-BF7C-512C-F69776256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DE84D02B-26B4-7E68-1DF0-E86B4DA7F6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396103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038563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11911</TotalTime>
  <Words>967</Words>
  <Application>Microsoft Macintosh PowerPoint</Application>
  <PresentationFormat>Widescreen</PresentationFormat>
  <Paragraphs>148</Paragraphs>
  <Slides>18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Arial</vt:lpstr>
      <vt:lpstr>Cambria Math</vt:lpstr>
      <vt:lpstr>Times New Roman</vt:lpstr>
      <vt:lpstr>Office Theme</vt:lpstr>
      <vt:lpstr>Forecasting the volatility of a stock market index; A hybrid approach integrating a GARCH model into various ANNs</vt:lpstr>
      <vt:lpstr>Outline of My Interim Presentation</vt:lpstr>
      <vt:lpstr>Volatility</vt:lpstr>
      <vt:lpstr>Why is volatility forecasting important?</vt:lpstr>
      <vt:lpstr>Volatility Clustering</vt:lpstr>
      <vt:lpstr>ARCH(q) Model (Engle, 1982)</vt:lpstr>
      <vt:lpstr>GARCH(p,q) Model (Bollerslev, 1986) </vt:lpstr>
      <vt:lpstr>Limitations of the GARCH Model</vt:lpstr>
      <vt:lpstr>Neural Networks; Main Idea</vt:lpstr>
      <vt:lpstr>Why Long-Short Term Memory Models?</vt:lpstr>
      <vt:lpstr>Overview of Literature</vt:lpstr>
      <vt:lpstr>The Research Problem</vt:lpstr>
      <vt:lpstr>Dataset; Oxford Realized Library</vt:lpstr>
      <vt:lpstr>Rolling lookback windows</vt:lpstr>
      <vt:lpstr>Evaluating Performance</vt:lpstr>
      <vt:lpstr>GARCH Model:</vt:lpstr>
      <vt:lpstr>Hybrid GARCH-LSTM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Realized Volatility Forecasting using a hybrid GARCH-LSTM model</dc:title>
  <dc:creator>(s) Lizzy White</dc:creator>
  <cp:lastModifiedBy>(s) Lizzy White</cp:lastModifiedBy>
  <cp:revision>184</cp:revision>
  <dcterms:created xsi:type="dcterms:W3CDTF">2024-11-30T17:23:43Z</dcterms:created>
  <dcterms:modified xsi:type="dcterms:W3CDTF">2025-05-20T14:43:26Z</dcterms:modified>
</cp:coreProperties>
</file>